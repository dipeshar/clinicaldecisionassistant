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2468880"/>
            <a:ext cx="10515600" cy="914400"/>
          </a:xfrm>
          <a:prstGeom prst="rect">
            <a:avLst/>
          </a:prstGeom>
          <a:noFill/>
          <a:ln/>
        </p:spPr>
        <p:txBody>
          <a:bodyPr wrap="square" lIns="0" tIns="0" rIns="0" bIns="0" rtlCol="0" anchor="ctr"/>
          <a:lstStyle/>
          <a:p>
            <a:pPr indent="0" marL="0">
              <a:buNone/>
            </a:pPr>
            <a:r>
              <a:rPr lang="en-US" sz="4000" b="1" dirty="0">
                <a:solidFill>
                  <a:srgbClr val="1A1A1A"/>
                </a:solidFill>
                <a:latin typeface="Arial" pitchFamily="34" charset="0"/>
                <a:ea typeface="Arial" pitchFamily="34" charset="-122"/>
                <a:cs typeface="Arial" pitchFamily="34" charset="-120"/>
              </a:rPr>
              <a:t>The LLM Council</a:t>
            </a:r>
            <a:endParaRPr lang="en-US" sz="4000" dirty="0"/>
          </a:p>
        </p:txBody>
      </p:sp>
      <p:sp>
        <p:nvSpPr>
          <p:cNvPr id="3" name="Text 1"/>
          <p:cNvSpPr txBox="1"/>
          <p:nvPr/>
        </p:nvSpPr>
        <p:spPr>
          <a:xfrm>
            <a:off x="822960" y="3246120"/>
            <a:ext cx="10058400" cy="457200"/>
          </a:xfrm>
          <a:prstGeom prst="rect">
            <a:avLst/>
          </a:prstGeom>
          <a:noFill/>
          <a:ln/>
        </p:spPr>
        <p:txBody>
          <a:bodyPr wrap="square" lIns="0" tIns="0" rIns="0" bIns="0" rtlCol="0" anchor="ctr"/>
          <a:lstStyle/>
          <a:p>
            <a:pPr indent="0" marL="0">
              <a:buNone/>
            </a:pPr>
            <a:r>
              <a:rPr lang="en-US" sz="1800" dirty="0">
                <a:solidFill>
                  <a:srgbClr val="595959"/>
                </a:solidFill>
                <a:latin typeface="Arial" pitchFamily="34" charset="0"/>
                <a:ea typeface="Arial" pitchFamily="34" charset="-122"/>
                <a:cs typeface="Arial" pitchFamily="34" charset="-120"/>
              </a:rPr>
              <a:t>A multi-agent clinical decision deliberation system</a:t>
            </a:r>
            <a:endParaRPr lang="en-US" sz="1800" dirty="0"/>
          </a:p>
        </p:txBody>
      </p:sp>
      <p:sp>
        <p:nvSpPr>
          <p:cNvPr id="4" name="Shape 2"/>
          <p:cNvSpPr/>
          <p:nvPr/>
        </p:nvSpPr>
        <p:spPr>
          <a:xfrm>
            <a:off x="822960" y="3977640"/>
            <a:ext cx="5486400" cy="0"/>
          </a:xfrm>
          <a:prstGeom prst="line">
            <a:avLst/>
          </a:prstGeom>
          <a:noFill/>
          <a:ln w="9525">
            <a:solidFill>
              <a:srgbClr val="D9D9D9"/>
            </a:solidFill>
            <a:prstDash val="solid"/>
          </a:ln>
        </p:spPr>
      </p:sp>
      <p:sp>
        <p:nvSpPr>
          <p:cNvPr id="5" name="Text 3"/>
          <p:cNvSpPr txBox="1"/>
          <p:nvPr/>
        </p:nvSpPr>
        <p:spPr>
          <a:xfrm>
            <a:off x="822960" y="4160520"/>
            <a:ext cx="9601200" cy="365760"/>
          </a:xfrm>
          <a:prstGeom prst="rect">
            <a:avLst/>
          </a:prstGeom>
          <a:noFill/>
          <a:ln/>
        </p:spPr>
        <p:txBody>
          <a:bodyPr wrap="square" lIns="0" tIns="0" rIns="0" bIns="0" rtlCol="0" anchor="ctr"/>
          <a:lstStyle/>
          <a:p>
            <a:pPr indent="0" marL="0">
              <a:buNone/>
            </a:pPr>
            <a:r>
              <a:rPr lang="en-US" sz="1250" i="1" dirty="0">
                <a:solidFill>
                  <a:srgbClr val="8C8C8C"/>
                </a:solidFill>
                <a:latin typeface="Arial" pitchFamily="34" charset="0"/>
                <a:ea typeface="Arial" pitchFamily="34" charset="-122"/>
                <a:cs typeface="Arial" pitchFamily="34" charset="-120"/>
              </a:rPr>
              <a:t>Decision support only — every recommendation requires human clinical sign-off. Synthetic data only.</a:t>
            </a:r>
            <a:endParaRPr lang="en-US" sz="1250" dirty="0"/>
          </a:p>
        </p:txBody>
      </p:sp>
      <p:sp>
        <p:nvSpPr>
          <p:cNvPr id="6" name="Text 4"/>
          <p:cNvSpPr txBox="1"/>
          <p:nvPr/>
        </p:nvSpPr>
        <p:spPr>
          <a:xfrm>
            <a:off x="822960" y="6172200"/>
            <a:ext cx="7315200" cy="320040"/>
          </a:xfrm>
          <a:prstGeom prst="rect">
            <a:avLst/>
          </a:prstGeom>
          <a:noFill/>
          <a:ln/>
        </p:spPr>
        <p:txBody>
          <a:bodyPr wrap="square" lIns="0" tIns="0" rIns="0" bIns="0" rtlCol="0" anchor="ctr"/>
          <a:lstStyle/>
          <a:p>
            <a:pPr indent="0" marL="0">
              <a:buNone/>
            </a:pPr>
            <a:r>
              <a:rPr lang="en-US" sz="1100" dirty="0">
                <a:solidFill>
                  <a:srgbClr val="8C8C8C"/>
                </a:solidFill>
                <a:latin typeface="Arial" pitchFamily="34" charset="0"/>
                <a:ea typeface="Arial" pitchFamily="34" charset="-122"/>
                <a:cs typeface="Arial" pitchFamily="34" charset="-120"/>
              </a:rPr>
              <a:t>Principal Engineer — Final Technical Evaluation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100" b="1" spc="150" kern="0" dirty="0">
                <a:solidFill>
                  <a:srgbClr val="8C8C8C"/>
                </a:solidFill>
                <a:latin typeface="Arial" pitchFamily="34" charset="0"/>
                <a:ea typeface="Arial" pitchFamily="34" charset="-122"/>
                <a:cs typeface="Arial" pitchFamily="34" charset="-120"/>
              </a:rPr>
              <a:t>THE PROBLEM</a:t>
            </a:r>
            <a:endParaRPr lang="en-US" sz="1100" dirty="0"/>
          </a:p>
        </p:txBody>
      </p:sp>
      <p:sp>
        <p:nvSpPr>
          <p:cNvPr id="3" name="Text 1"/>
          <p:cNvSpPr txBox="1"/>
          <p:nvPr/>
        </p:nvSpPr>
        <p:spPr>
          <a:xfrm>
            <a:off x="640080" y="777240"/>
            <a:ext cx="10881360" cy="82296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This is not a case with one right answer</a:t>
            </a:r>
            <a:endParaRPr lang="en-US" sz="3000" dirty="0"/>
          </a:p>
        </p:txBody>
      </p:sp>
      <p:sp>
        <p:nvSpPr>
          <p:cNvPr id="4" name="Text 2"/>
          <p:cNvSpPr txBox="1"/>
          <p:nvPr/>
        </p:nvSpPr>
        <p:spPr>
          <a:xfrm>
            <a:off x="640080" y="1874520"/>
            <a:ext cx="10881360" cy="1554480"/>
          </a:xfrm>
          <a:prstGeom prst="rect">
            <a:avLst/>
          </a:prstGeom>
          <a:noFill/>
          <a:ln/>
        </p:spPr>
        <p:txBody>
          <a:bodyPr wrap="square" lIns="0" tIns="0" rIns="0" bIns="0" rtlCol="0" anchor="ctr"/>
          <a:lstStyle/>
          <a:p>
            <a:pPr indent="0" marL="0">
              <a:lnSpc>
                <a:spcPct val="130000"/>
              </a:lnSpc>
              <a:buNone/>
            </a:pPr>
            <a:r>
              <a:rPr lang="en-US" sz="1600" dirty="0">
                <a:solidFill>
                  <a:srgbClr val="1A1A1A"/>
                </a:solidFill>
                <a:latin typeface="Arial" pitchFamily="34" charset="0"/>
                <a:ea typeface="Arial" pitchFamily="34" charset="-122"/>
                <a:cs typeface="Arial" pitchFamily="34" charset="-120"/>
              </a:rPr>
              <a:t>A 76-year-old man. Severe aortic stenosis with syncope. Stage 3b chronic kidney disease. A documented contrast allergy that complicates the procedure meant to spare his kidneys.
</a:t>
            </a:r>
            <a:endParaRPr lang="en-US" sz="1600" dirty="0"/>
          </a:p>
          <a:p>
            <a:pPr indent="0" marL="0">
              <a:lnSpc>
                <a:spcPct val="130000"/>
              </a:lnSpc>
              <a:buNone/>
            </a:pPr>
            <a:r>
              <a:rPr lang="en-US" sz="1600" dirty="0">
                <a:solidFill>
                  <a:srgbClr val="1A1A1A"/>
                </a:solidFill>
                <a:latin typeface="Arial" pitchFamily="34" charset="0"/>
                <a:ea typeface="Arial" pitchFamily="34" charset="-122"/>
                <a:cs typeface="Arial" pitchFamily="34" charset="-120"/>
              </a:rPr>
              <a:t>Two legitimate procedures. Real tension between them. The brief calls this case </a:t>
            </a:r>
            <a:pPr indent="0" marL="0">
              <a:lnSpc>
                <a:spcPct val="130000"/>
              </a:lnSpc>
              <a:buNone/>
            </a:pPr>
            <a:r>
              <a:rPr lang="en-US" sz="1600" b="1" i="1" dirty="0">
                <a:solidFill>
                  <a:srgbClr val="2C4A52"/>
                </a:solidFill>
                <a:latin typeface="Arial" pitchFamily="34" charset="0"/>
                <a:ea typeface="Arial" pitchFamily="34" charset="-122"/>
                <a:cs typeface="Arial" pitchFamily="34" charset="-120"/>
              </a:rPr>
              <a:t>“deliberately balanced”</a:t>
            </a:r>
            <a:pPr indent="0" marL="0">
              <a:lnSpc>
                <a:spcPct val="130000"/>
              </a:lnSpc>
              <a:buNone/>
            </a:pPr>
            <a:r>
              <a:rPr lang="en-US" sz="1600" dirty="0">
                <a:solidFill>
                  <a:srgbClr val="1A1A1A"/>
                </a:solidFill>
                <a:latin typeface="Arial" pitchFamily="34" charset="0"/>
                <a:ea typeface="Arial" pitchFamily="34" charset="-122"/>
                <a:cs typeface="Arial" pitchFamily="34" charset="-120"/>
              </a:rPr>
              <a:t> — and it is.</a:t>
            </a:r>
            <a:endParaRPr lang="en-US" sz="1600" dirty="0"/>
          </a:p>
        </p:txBody>
      </p:sp>
      <p:sp>
        <p:nvSpPr>
          <p:cNvPr id="5" name="Shape 3"/>
          <p:cNvSpPr/>
          <p:nvPr/>
        </p:nvSpPr>
        <p:spPr>
          <a:xfrm>
            <a:off x="640080" y="3703320"/>
            <a:ext cx="10908792" cy="0"/>
          </a:xfrm>
          <a:prstGeom prst="line">
            <a:avLst/>
          </a:prstGeom>
          <a:noFill/>
          <a:ln w="9525">
            <a:solidFill>
              <a:srgbClr val="D9D9D9"/>
            </a:solidFill>
            <a:prstDash val="solid"/>
          </a:ln>
        </p:spPr>
      </p:sp>
      <p:sp>
        <p:nvSpPr>
          <p:cNvPr id="6" name="Text 4"/>
          <p:cNvSpPr txBox="1"/>
          <p:nvPr/>
        </p:nvSpPr>
        <p:spPr>
          <a:xfrm>
            <a:off x="640080" y="3931920"/>
            <a:ext cx="7315200"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My reading of the brief</a:t>
            </a:r>
            <a:endParaRPr lang="en-US" sz="1400" dirty="0"/>
          </a:p>
        </p:txBody>
      </p:sp>
      <p:sp>
        <p:nvSpPr>
          <p:cNvPr id="7" name="Text 5"/>
          <p:cNvSpPr txBox="1"/>
          <p:nvPr/>
        </p:nvSpPr>
        <p:spPr>
          <a:xfrm>
            <a:off x="640080" y="4389120"/>
            <a:ext cx="9601200" cy="11887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b="1" dirty="0">
                <a:solidFill>
                  <a:srgbClr val="1A1A1A"/>
                </a:solidFill>
                <a:latin typeface="Arial" pitchFamily="34" charset="0"/>
                <a:ea typeface="Arial" pitchFamily="34" charset="-122"/>
                <a:cs typeface="Arial" pitchFamily="34" charset="-120"/>
              </a:rPr>
              <a:t>This is an engineering exercise in trust, not medicine.</a:t>
            </a:r>
            <a:endParaRPr lang="en-US" sz="1450" dirty="0"/>
          </a:p>
          <a:p>
            <a:pPr marL="342900" indent="-342900">
              <a:lnSpc>
                <a:spcPct val="115000"/>
              </a:lnSpc>
              <a:spcAft>
                <a:spcPts val="800"/>
              </a:spcAft>
              <a:buSzPct val="100000"/>
              <a:buChar char="•"/>
            </a:pPr>
            <a:r>
              <a:rPr lang="en-US" sz="1450" dirty="0">
                <a:solidFill>
                  <a:srgbClr val="1A1A1A"/>
                </a:solidFill>
                <a:latin typeface="Arial" pitchFamily="34" charset="0"/>
                <a:ea typeface="Arial" pitchFamily="34" charset="-122"/>
                <a:cs typeface="Arial" pitchFamily="34" charset="-120"/>
              </a:rPr>
              <a:t>Every claim must be traceable, not merely plausible.</a:t>
            </a:r>
            <a:endParaRPr lang="en-US" sz="1450" dirty="0"/>
          </a:p>
          <a:p>
            <a:pPr marL="342900" indent="-342900">
              <a:lnSpc>
                <a:spcPct val="115000"/>
              </a:lnSpc>
              <a:spcAft>
                <a:spcPts val="800"/>
              </a:spcAft>
              <a:buSzPct val="100000"/>
              <a:buChar char="•"/>
            </a:pPr>
            <a:r>
              <a:rPr lang="en-US" sz="1450" dirty="0">
                <a:solidFill>
                  <a:srgbClr val="1A1A1A"/>
                </a:solidFill>
                <a:latin typeface="Arial" pitchFamily="34" charset="0"/>
                <a:ea typeface="Arial" pitchFamily="34" charset="-122"/>
                <a:cs typeface="Arial" pitchFamily="34" charset="-120"/>
              </a:rPr>
              <a:t>The system's job is to surface real tensions faithfully — not resolve them.</a:t>
            </a:r>
            <a:endParaRPr lang="en-US" sz="1450" dirty="0"/>
          </a:p>
        </p:txBody>
      </p:sp>
      <p:sp>
        <p:nvSpPr>
          <p:cNvPr id="8" name="Text 6"/>
          <p:cNvSpPr txBox="1"/>
          <p:nvPr/>
        </p:nvSpPr>
        <p:spPr>
          <a:xfrm>
            <a:off x="640080" y="5943600"/>
            <a:ext cx="10515600" cy="365760"/>
          </a:xfrm>
          <a:prstGeom prst="rect">
            <a:avLst/>
          </a:prstGeom>
          <a:noFill/>
          <a:ln/>
        </p:spPr>
        <p:txBody>
          <a:bodyPr wrap="square" lIns="0" tIns="0" rIns="0" bIns="0" rtlCol="0" anchor="ctr"/>
          <a:lstStyle/>
          <a:p>
            <a:pPr indent="0" marL="0">
              <a:buNone/>
            </a:pPr>
            <a:r>
              <a:rPr lang="en-US" sz="1300" b="1" dirty="0">
                <a:solidFill>
                  <a:srgbClr val="2C4A52"/>
                </a:solidFill>
                <a:latin typeface="Arial" pitchFamily="34" charset="0"/>
                <a:ea typeface="Arial" pitchFamily="34" charset="-122"/>
                <a:cs typeface="Arial" pitchFamily="34" charset="-120"/>
              </a:rPr>
              <a:t>1 </a:t>
            </a:r>
            <a:pPr indent="0" marL="0">
              <a:buNone/>
            </a:pPr>
            <a:r>
              <a:rPr lang="en-US" sz="1300" dirty="0">
                <a:solidFill>
                  <a:srgbClr val="595959"/>
                </a:solidFill>
                <a:latin typeface="Arial" pitchFamily="34" charset="0"/>
                <a:ea typeface="Arial" pitchFamily="34" charset="-122"/>
                <a:cs typeface="Arial" pitchFamily="34" charset="-120"/>
              </a:rPr>
              <a:t>clinical case      </a:t>
            </a:r>
            <a:pPr indent="0" marL="0">
              <a:buNone/>
            </a:pPr>
            <a:r>
              <a:rPr lang="en-US" sz="1300" b="1" dirty="0">
                <a:solidFill>
                  <a:srgbClr val="2C4A52"/>
                </a:solidFill>
                <a:latin typeface="Arial" pitchFamily="34" charset="0"/>
                <a:ea typeface="Arial" pitchFamily="34" charset="-122"/>
                <a:cs typeface="Arial" pitchFamily="34" charset="-120"/>
              </a:rPr>
              <a:t>4 </a:t>
            </a:r>
            <a:pPr indent="0" marL="0">
              <a:buNone/>
            </a:pPr>
            <a:r>
              <a:rPr lang="en-US" sz="1300" dirty="0">
                <a:solidFill>
                  <a:srgbClr val="595959"/>
                </a:solidFill>
                <a:latin typeface="Arial" pitchFamily="34" charset="0"/>
                <a:ea typeface="Arial" pitchFamily="34" charset="-122"/>
                <a:cs typeface="Arial" pitchFamily="34" charset="-120"/>
              </a:rPr>
              <a:t>specialists      </a:t>
            </a:r>
            <a:pPr indent="0" marL="0">
              <a:buNone/>
            </a:pPr>
            <a:r>
              <a:rPr lang="en-US" sz="1300" b="1" dirty="0">
                <a:solidFill>
                  <a:srgbClr val="2C4A52"/>
                </a:solidFill>
                <a:latin typeface="Arial" pitchFamily="34" charset="0"/>
                <a:ea typeface="Arial" pitchFamily="34" charset="-122"/>
                <a:cs typeface="Arial" pitchFamily="34" charset="-120"/>
              </a:rPr>
              <a:t>2 </a:t>
            </a:r>
            <a:pPr indent="0" marL="0">
              <a:buNone/>
            </a:pPr>
            <a:r>
              <a:rPr lang="en-US" sz="1300" dirty="0">
                <a:solidFill>
                  <a:srgbClr val="595959"/>
                </a:solidFill>
                <a:latin typeface="Arial" pitchFamily="34" charset="0"/>
                <a:ea typeface="Arial" pitchFamily="34" charset="-122"/>
                <a:cs typeface="Arial" pitchFamily="34" charset="-120"/>
              </a:rPr>
              <a:t>judges      </a:t>
            </a:r>
            <a:pPr indent="0" marL="0">
              <a:buNone/>
            </a:pPr>
            <a:r>
              <a:rPr lang="en-US" sz="1300" b="1" dirty="0">
                <a:solidFill>
                  <a:srgbClr val="2C4A52"/>
                </a:solidFill>
                <a:latin typeface="Arial" pitchFamily="34" charset="0"/>
                <a:ea typeface="Arial" pitchFamily="34" charset="-122"/>
                <a:cs typeface="Arial" pitchFamily="34" charset="-120"/>
              </a:rPr>
              <a:t>1 </a:t>
            </a:r>
            <a:pPr indent="0" marL="0">
              <a:buNone/>
            </a:pPr>
            <a:r>
              <a:rPr lang="en-US" sz="1300" dirty="0">
                <a:solidFill>
                  <a:srgbClr val="595959"/>
                </a:solidFill>
                <a:latin typeface="Arial" pitchFamily="34" charset="0"/>
                <a:ea typeface="Arial" pitchFamily="34" charset="-122"/>
                <a:cs typeface="Arial" pitchFamily="34" charset="-120"/>
              </a:rPr>
              <a:t>red team      </a:t>
            </a:r>
            <a:pPr indent="0" marL="0">
              <a:buNone/>
            </a:pPr>
            <a:r>
              <a:rPr lang="en-US" sz="1300" b="1" dirty="0">
                <a:solidFill>
                  <a:srgbClr val="2C4A52"/>
                </a:solidFill>
                <a:latin typeface="Arial" pitchFamily="34" charset="0"/>
                <a:ea typeface="Arial" pitchFamily="34" charset="-122"/>
                <a:cs typeface="Arial" pitchFamily="34" charset="-120"/>
              </a:rPr>
              <a:t>1 </a:t>
            </a:r>
            <a:pPr indent="0" marL="0">
              <a:buNone/>
            </a:pPr>
            <a:r>
              <a:rPr lang="en-US" sz="1300" dirty="0">
                <a:solidFill>
                  <a:srgbClr val="595959"/>
                </a:solidFill>
                <a:latin typeface="Arial" pitchFamily="34" charset="0"/>
                <a:ea typeface="Arial" pitchFamily="34" charset="-122"/>
                <a:cs typeface="Arial" pitchFamily="34" charset="-120"/>
              </a:rPr>
              <a:t>human, final say</a:t>
            </a:r>
            <a:endParaRPr lang="en-US" sz="1300" dirty="0"/>
          </a:p>
        </p:txBody>
      </p:sp>
      <p:sp>
        <p:nvSpPr>
          <p:cNvPr id="9" name="Text 7"/>
          <p:cNvSpPr txBox="1"/>
          <p:nvPr/>
        </p:nvSpPr>
        <p:spPr>
          <a:xfrm>
            <a:off x="640080" y="6492240"/>
            <a:ext cx="86868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The LLM Council — decision support only, requires human clinical sign-off</a:t>
            </a:r>
            <a:endParaRPr lang="en-US" sz="900" dirty="0"/>
          </a:p>
        </p:txBody>
      </p:sp>
      <p:sp>
        <p:nvSpPr>
          <p:cNvPr id="10" name="Text 8"/>
          <p:cNvSpPr txBox="1"/>
          <p:nvPr/>
        </p:nvSpPr>
        <p:spPr>
          <a:xfrm>
            <a:off x="11612880" y="6492240"/>
            <a:ext cx="45720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100" b="1" spc="150" kern="0" dirty="0">
                <a:solidFill>
                  <a:srgbClr val="8C8C8C"/>
                </a:solidFill>
                <a:latin typeface="Arial" pitchFamily="34" charset="0"/>
                <a:ea typeface="Arial" pitchFamily="34" charset="-122"/>
                <a:cs typeface="Arial" pitchFamily="34" charset="-120"/>
              </a:rPr>
              <a:t>MY APPROACH</a:t>
            </a:r>
            <a:endParaRPr lang="en-US" sz="1100" dirty="0"/>
          </a:p>
        </p:txBody>
      </p:sp>
      <p:sp>
        <p:nvSpPr>
          <p:cNvPr id="3" name="Text 1"/>
          <p:cNvSpPr txBox="1"/>
          <p:nvPr/>
        </p:nvSpPr>
        <p:spPr>
          <a:xfrm>
            <a:off x="640080" y="777240"/>
            <a:ext cx="10881360" cy="82296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One sentence, five moving parts</a:t>
            </a:r>
            <a:endParaRPr lang="en-US" sz="3000" dirty="0"/>
          </a:p>
        </p:txBody>
      </p:sp>
      <p:sp>
        <p:nvSpPr>
          <p:cNvPr id="4" name="Text 2"/>
          <p:cNvSpPr txBox="1"/>
          <p:nvPr/>
        </p:nvSpPr>
        <p:spPr>
          <a:xfrm>
            <a:off x="640080" y="1828800"/>
            <a:ext cx="10881360" cy="914400"/>
          </a:xfrm>
          <a:prstGeom prst="rect">
            <a:avLst/>
          </a:prstGeom>
          <a:noFill/>
          <a:ln/>
        </p:spPr>
        <p:txBody>
          <a:bodyPr wrap="square" lIns="0" tIns="0" rIns="0" bIns="0" rtlCol="0" anchor="ctr"/>
          <a:lstStyle/>
          <a:p>
            <a:pPr indent="0" marL="0">
              <a:lnSpc>
                <a:spcPct val="125000"/>
              </a:lnSpc>
              <a:buNone/>
            </a:pPr>
            <a:r>
              <a:rPr lang="en-US" sz="1900" dirty="0">
                <a:solidFill>
                  <a:srgbClr val="1A1A1A"/>
                </a:solidFill>
                <a:latin typeface="Arial" pitchFamily="34" charset="0"/>
                <a:ea typeface="Arial" pitchFamily="34" charset="-122"/>
                <a:cs typeface="Arial" pitchFamily="34" charset="-120"/>
              </a:rPr>
              <a:t>Four specialists argue. Two judges score them. A red team attacks the process. A human signs off. </a:t>
            </a:r>
            <a:pPr indent="0" marL="0">
              <a:lnSpc>
                <a:spcPct val="125000"/>
              </a:lnSpc>
              <a:buNone/>
            </a:pPr>
            <a:r>
              <a:rPr lang="en-US" sz="1900" b="1" dirty="0">
                <a:solidFill>
                  <a:srgbClr val="2C4A52"/>
                </a:solidFill>
                <a:latin typeface="Arial" pitchFamily="34" charset="0"/>
                <a:ea typeface="Arial" pitchFamily="34" charset="-122"/>
                <a:cs typeface="Arial" pitchFamily="34" charset="-120"/>
              </a:rPr>
              <a:t>Code — not the model — decides what can be trusted.</a:t>
            </a:r>
            <a:endParaRPr lang="en-US" sz="1900" dirty="0"/>
          </a:p>
        </p:txBody>
      </p:sp>
      <p:sp>
        <p:nvSpPr>
          <p:cNvPr id="5" name="Shape 3"/>
          <p:cNvSpPr/>
          <p:nvPr/>
        </p:nvSpPr>
        <p:spPr>
          <a:xfrm>
            <a:off x="640080" y="2971800"/>
            <a:ext cx="10908792" cy="0"/>
          </a:xfrm>
          <a:prstGeom prst="line">
            <a:avLst/>
          </a:prstGeom>
          <a:noFill/>
          <a:ln w="9525">
            <a:solidFill>
              <a:srgbClr val="D9D9D9"/>
            </a:solidFill>
            <a:prstDash val="solid"/>
          </a:ln>
        </p:spPr>
      </p:sp>
      <p:sp>
        <p:nvSpPr>
          <p:cNvPr id="6" name="Text 4"/>
          <p:cNvSpPr txBox="1"/>
          <p:nvPr/>
        </p:nvSpPr>
        <p:spPr>
          <a:xfrm>
            <a:off x="640080" y="3291840"/>
            <a:ext cx="365760" cy="457200"/>
          </a:xfrm>
          <a:prstGeom prst="rect">
            <a:avLst/>
          </a:prstGeom>
          <a:noFill/>
          <a:ln/>
        </p:spPr>
        <p:txBody>
          <a:bodyPr wrap="square" lIns="0" tIns="0" rIns="0" bIns="0" rtlCol="0" anchor="ctr"/>
          <a:lstStyle/>
          <a:p>
            <a:pPr indent="0" marL="0">
              <a:buNone/>
            </a:pPr>
            <a:r>
              <a:rPr lang="en-US" sz="1600" b="1" dirty="0">
                <a:solidFill>
                  <a:srgbClr val="2C4A52"/>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143000" y="3291840"/>
            <a:ext cx="2286000" cy="45720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Specialists</a:t>
            </a:r>
            <a:endParaRPr lang="en-US" sz="1500" dirty="0"/>
          </a:p>
        </p:txBody>
      </p:sp>
      <p:sp>
        <p:nvSpPr>
          <p:cNvPr id="8" name="Text 6"/>
          <p:cNvSpPr txBox="1"/>
          <p:nvPr/>
        </p:nvSpPr>
        <p:spPr>
          <a:xfrm>
            <a:off x="3566160" y="3291840"/>
            <a:ext cx="7680960" cy="457200"/>
          </a:xfrm>
          <a:prstGeom prst="rect">
            <a:avLst/>
          </a:prstGeom>
          <a:noFill/>
          <a:ln/>
        </p:spPr>
        <p:txBody>
          <a:bodyPr wrap="square" lIns="0" tIns="0" rIns="0" bIns="0" rtlCol="0" anchor="ctr"/>
          <a:lstStyle/>
          <a:p>
            <a:pPr indent="0" marL="0">
              <a:buNone/>
            </a:pPr>
            <a:r>
              <a:rPr lang="en-US" sz="1350" dirty="0">
                <a:solidFill>
                  <a:srgbClr val="595959"/>
                </a:solidFill>
                <a:latin typeface="Arial" pitchFamily="34" charset="0"/>
                <a:ea typeface="Arial" pitchFamily="34" charset="-122"/>
                <a:cs typeface="Arial" pitchFamily="34" charset="-120"/>
              </a:rPr>
              <a:t>argue, grounded in their own knowledge base</a:t>
            </a:r>
            <a:endParaRPr lang="en-US" sz="1350" dirty="0"/>
          </a:p>
        </p:txBody>
      </p:sp>
      <p:sp>
        <p:nvSpPr>
          <p:cNvPr id="9" name="Text 7"/>
          <p:cNvSpPr txBox="1"/>
          <p:nvPr/>
        </p:nvSpPr>
        <p:spPr>
          <a:xfrm>
            <a:off x="640080" y="3822192"/>
            <a:ext cx="365760" cy="457200"/>
          </a:xfrm>
          <a:prstGeom prst="rect">
            <a:avLst/>
          </a:prstGeom>
          <a:noFill/>
          <a:ln/>
        </p:spPr>
        <p:txBody>
          <a:bodyPr wrap="square" lIns="0" tIns="0" rIns="0" bIns="0" rtlCol="0" anchor="ctr"/>
          <a:lstStyle/>
          <a:p>
            <a:pPr indent="0" marL="0">
              <a:buNone/>
            </a:pPr>
            <a:r>
              <a:rPr lang="en-US" sz="1600" b="1" dirty="0">
                <a:solidFill>
                  <a:srgbClr val="2C4A52"/>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143000" y="3822192"/>
            <a:ext cx="2286000" cy="45720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Judges</a:t>
            </a:r>
            <a:endParaRPr lang="en-US" sz="1500" dirty="0"/>
          </a:p>
        </p:txBody>
      </p:sp>
      <p:sp>
        <p:nvSpPr>
          <p:cNvPr id="11" name="Text 9"/>
          <p:cNvSpPr txBox="1"/>
          <p:nvPr/>
        </p:nvSpPr>
        <p:spPr>
          <a:xfrm>
            <a:off x="3566160" y="3822192"/>
            <a:ext cx="7680960" cy="457200"/>
          </a:xfrm>
          <a:prstGeom prst="rect">
            <a:avLst/>
          </a:prstGeom>
          <a:noFill/>
          <a:ln/>
        </p:spPr>
        <p:txBody>
          <a:bodyPr wrap="square" lIns="0" tIns="0" rIns="0" bIns="0" rtlCol="0" anchor="ctr"/>
          <a:lstStyle/>
          <a:p>
            <a:pPr indent="0" marL="0">
              <a:buNone/>
            </a:pPr>
            <a:r>
              <a:rPr lang="en-US" sz="1350" dirty="0">
                <a:solidFill>
                  <a:srgbClr val="595959"/>
                </a:solidFill>
                <a:latin typeface="Arial" pitchFamily="34" charset="0"/>
                <a:ea typeface="Arial" pitchFamily="34" charset="-122"/>
                <a:cs typeface="Arial" pitchFamily="34" charset="-120"/>
              </a:rPr>
              <a:t>score every argument, blind to each other</a:t>
            </a:r>
            <a:endParaRPr lang="en-US" sz="1350" dirty="0"/>
          </a:p>
        </p:txBody>
      </p:sp>
      <p:sp>
        <p:nvSpPr>
          <p:cNvPr id="12" name="Text 10"/>
          <p:cNvSpPr txBox="1"/>
          <p:nvPr/>
        </p:nvSpPr>
        <p:spPr>
          <a:xfrm>
            <a:off x="640080" y="4352544"/>
            <a:ext cx="365760" cy="457200"/>
          </a:xfrm>
          <a:prstGeom prst="rect">
            <a:avLst/>
          </a:prstGeom>
          <a:noFill/>
          <a:ln/>
        </p:spPr>
        <p:txBody>
          <a:bodyPr wrap="square" lIns="0" tIns="0" rIns="0" bIns="0" rtlCol="0" anchor="ctr"/>
          <a:lstStyle/>
          <a:p>
            <a:pPr indent="0" marL="0">
              <a:buNone/>
            </a:pPr>
            <a:r>
              <a:rPr lang="en-US" sz="1600" b="1" dirty="0">
                <a:solidFill>
                  <a:srgbClr val="2C4A52"/>
                </a:solidFill>
                <a:latin typeface="Arial" pitchFamily="34" charset="0"/>
                <a:ea typeface="Arial" pitchFamily="34" charset="-122"/>
                <a:cs typeface="Arial" pitchFamily="34" charset="-120"/>
              </a:rPr>
              <a:t>3</a:t>
            </a:r>
            <a:endParaRPr lang="en-US" sz="1600" dirty="0"/>
          </a:p>
        </p:txBody>
      </p:sp>
      <p:sp>
        <p:nvSpPr>
          <p:cNvPr id="13" name="Text 11"/>
          <p:cNvSpPr txBox="1"/>
          <p:nvPr/>
        </p:nvSpPr>
        <p:spPr>
          <a:xfrm>
            <a:off x="1143000" y="4352544"/>
            <a:ext cx="2286000" cy="45720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Red team</a:t>
            </a:r>
            <a:endParaRPr lang="en-US" sz="1500" dirty="0"/>
          </a:p>
        </p:txBody>
      </p:sp>
      <p:sp>
        <p:nvSpPr>
          <p:cNvPr id="14" name="Text 12"/>
          <p:cNvSpPr txBox="1"/>
          <p:nvPr/>
        </p:nvSpPr>
        <p:spPr>
          <a:xfrm>
            <a:off x="3566160" y="4352544"/>
            <a:ext cx="7680960" cy="457200"/>
          </a:xfrm>
          <a:prstGeom prst="rect">
            <a:avLst/>
          </a:prstGeom>
          <a:noFill/>
          <a:ln/>
        </p:spPr>
        <p:txBody>
          <a:bodyPr wrap="square" lIns="0" tIns="0" rIns="0" bIns="0" rtlCol="0" anchor="ctr"/>
          <a:lstStyle/>
          <a:p>
            <a:pPr indent="0" marL="0">
              <a:buNone/>
            </a:pPr>
            <a:r>
              <a:rPr lang="en-US" sz="1350" dirty="0">
                <a:solidFill>
                  <a:srgbClr val="595959"/>
                </a:solidFill>
                <a:latin typeface="Arial" pitchFamily="34" charset="0"/>
                <a:ea typeface="Arial" pitchFamily="34" charset="-122"/>
                <a:cs typeface="Arial" pitchFamily="34" charset="-120"/>
              </a:rPr>
              <a:t>attacks missing information and injection</a:t>
            </a:r>
            <a:endParaRPr lang="en-US" sz="1350" dirty="0"/>
          </a:p>
        </p:txBody>
      </p:sp>
      <p:sp>
        <p:nvSpPr>
          <p:cNvPr id="15" name="Text 13"/>
          <p:cNvSpPr txBox="1"/>
          <p:nvPr/>
        </p:nvSpPr>
        <p:spPr>
          <a:xfrm>
            <a:off x="640080" y="4882896"/>
            <a:ext cx="365760" cy="457200"/>
          </a:xfrm>
          <a:prstGeom prst="rect">
            <a:avLst/>
          </a:prstGeom>
          <a:noFill/>
          <a:ln/>
        </p:spPr>
        <p:txBody>
          <a:bodyPr wrap="square" lIns="0" tIns="0" rIns="0" bIns="0" rtlCol="0" anchor="ctr"/>
          <a:lstStyle/>
          <a:p>
            <a:pPr indent="0" marL="0">
              <a:buNone/>
            </a:pPr>
            <a:r>
              <a:rPr lang="en-US" sz="1600" b="1" dirty="0">
                <a:solidFill>
                  <a:srgbClr val="2C4A52"/>
                </a:solidFill>
                <a:latin typeface="Arial" pitchFamily="34" charset="0"/>
                <a:ea typeface="Arial" pitchFamily="34" charset="-122"/>
                <a:cs typeface="Arial" pitchFamily="34" charset="-120"/>
              </a:rPr>
              <a:t>4</a:t>
            </a:r>
            <a:endParaRPr lang="en-US" sz="1600" dirty="0"/>
          </a:p>
        </p:txBody>
      </p:sp>
      <p:sp>
        <p:nvSpPr>
          <p:cNvPr id="16" name="Text 14"/>
          <p:cNvSpPr txBox="1"/>
          <p:nvPr/>
        </p:nvSpPr>
        <p:spPr>
          <a:xfrm>
            <a:off x="1143000" y="4882896"/>
            <a:ext cx="2286000" cy="45720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Chair</a:t>
            </a:r>
            <a:endParaRPr lang="en-US" sz="1500" dirty="0"/>
          </a:p>
        </p:txBody>
      </p:sp>
      <p:sp>
        <p:nvSpPr>
          <p:cNvPr id="17" name="Text 15"/>
          <p:cNvSpPr txBox="1"/>
          <p:nvPr/>
        </p:nvSpPr>
        <p:spPr>
          <a:xfrm>
            <a:off x="3566160" y="4882896"/>
            <a:ext cx="7680960" cy="457200"/>
          </a:xfrm>
          <a:prstGeom prst="rect">
            <a:avLst/>
          </a:prstGeom>
          <a:noFill/>
          <a:ln/>
        </p:spPr>
        <p:txBody>
          <a:bodyPr wrap="square" lIns="0" tIns="0" rIns="0" bIns="0" rtlCol="0" anchor="ctr"/>
          <a:lstStyle/>
          <a:p>
            <a:pPr indent="0" marL="0">
              <a:buNone/>
            </a:pPr>
            <a:r>
              <a:rPr lang="en-US" sz="1350" dirty="0">
                <a:solidFill>
                  <a:srgbClr val="595959"/>
                </a:solidFill>
                <a:latin typeface="Arial" pitchFamily="34" charset="0"/>
                <a:ea typeface="Arial" pitchFamily="34" charset="-122"/>
                <a:cs typeface="Arial" pitchFamily="34" charset="-120"/>
              </a:rPr>
              <a:t>synthesizes — no new claims</a:t>
            </a:r>
            <a:endParaRPr lang="en-US" sz="1350" dirty="0"/>
          </a:p>
        </p:txBody>
      </p:sp>
      <p:sp>
        <p:nvSpPr>
          <p:cNvPr id="18" name="Text 16"/>
          <p:cNvSpPr txBox="1"/>
          <p:nvPr/>
        </p:nvSpPr>
        <p:spPr>
          <a:xfrm>
            <a:off x="640080" y="5413248"/>
            <a:ext cx="365760" cy="457200"/>
          </a:xfrm>
          <a:prstGeom prst="rect">
            <a:avLst/>
          </a:prstGeom>
          <a:noFill/>
          <a:ln/>
        </p:spPr>
        <p:txBody>
          <a:bodyPr wrap="square" lIns="0" tIns="0" rIns="0" bIns="0" rtlCol="0" anchor="ctr"/>
          <a:lstStyle/>
          <a:p>
            <a:pPr indent="0" marL="0">
              <a:buNone/>
            </a:pPr>
            <a:r>
              <a:rPr lang="en-US" sz="1600" b="1" dirty="0">
                <a:solidFill>
                  <a:srgbClr val="2C4A52"/>
                </a:solidFill>
                <a:latin typeface="Arial" pitchFamily="34" charset="0"/>
                <a:ea typeface="Arial" pitchFamily="34" charset="-122"/>
                <a:cs typeface="Arial" pitchFamily="34" charset="-120"/>
              </a:rPr>
              <a:t>5</a:t>
            </a:r>
            <a:endParaRPr lang="en-US" sz="1600" dirty="0"/>
          </a:p>
        </p:txBody>
      </p:sp>
      <p:sp>
        <p:nvSpPr>
          <p:cNvPr id="19" name="Text 17"/>
          <p:cNvSpPr txBox="1"/>
          <p:nvPr/>
        </p:nvSpPr>
        <p:spPr>
          <a:xfrm>
            <a:off x="1143000" y="5413248"/>
            <a:ext cx="2286000" cy="45720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Human</a:t>
            </a:r>
            <a:endParaRPr lang="en-US" sz="1500" dirty="0"/>
          </a:p>
        </p:txBody>
      </p:sp>
      <p:sp>
        <p:nvSpPr>
          <p:cNvPr id="20" name="Text 18"/>
          <p:cNvSpPr txBox="1"/>
          <p:nvPr/>
        </p:nvSpPr>
        <p:spPr>
          <a:xfrm>
            <a:off x="3566160" y="5413248"/>
            <a:ext cx="7680960" cy="457200"/>
          </a:xfrm>
          <a:prstGeom prst="rect">
            <a:avLst/>
          </a:prstGeom>
          <a:noFill/>
          <a:ln/>
        </p:spPr>
        <p:txBody>
          <a:bodyPr wrap="square" lIns="0" tIns="0" rIns="0" bIns="0" rtlCol="0" anchor="ctr"/>
          <a:lstStyle/>
          <a:p>
            <a:pPr indent="0" marL="0">
              <a:buNone/>
            </a:pPr>
            <a:r>
              <a:rPr lang="en-US" sz="1350" dirty="0">
                <a:solidFill>
                  <a:srgbClr val="595959"/>
                </a:solidFill>
                <a:latin typeface="Arial" pitchFamily="34" charset="0"/>
                <a:ea typeface="Arial" pitchFamily="34" charset="-122"/>
                <a:cs typeface="Arial" pitchFamily="34" charset="-120"/>
              </a:rPr>
              <a:t>final word, always</a:t>
            </a:r>
            <a:endParaRPr lang="en-US" sz="1350" dirty="0"/>
          </a:p>
        </p:txBody>
      </p:sp>
      <p:sp>
        <p:nvSpPr>
          <p:cNvPr id="21" name="Text 19"/>
          <p:cNvSpPr txBox="1"/>
          <p:nvPr/>
        </p:nvSpPr>
        <p:spPr>
          <a:xfrm>
            <a:off x="640080" y="6217920"/>
            <a:ext cx="10881360" cy="320040"/>
          </a:xfrm>
          <a:prstGeom prst="rect">
            <a:avLst/>
          </a:prstGeom>
          <a:noFill/>
          <a:ln/>
        </p:spPr>
        <p:txBody>
          <a:bodyPr wrap="square" lIns="0" tIns="0" rIns="0" bIns="0" rtlCol="0" anchor="ctr"/>
          <a:lstStyle/>
          <a:p>
            <a:pPr indent="0" marL="0">
              <a:buNone/>
            </a:pPr>
            <a:r>
              <a:rPr lang="en-US" sz="1150" i="1" dirty="0">
                <a:solidFill>
                  <a:srgbClr val="8C8C8C"/>
                </a:solidFill>
                <a:latin typeface="Arial" pitchFamily="34" charset="0"/>
                <a:ea typeface="Arial" pitchFamily="34" charset="-122"/>
                <a:cs typeface="Arial" pitchFamily="34" charset="-120"/>
              </a:rPr>
              <a:t>Built on Groq · a plain Python orchestrator · two independent model families for specialists vs. judges</a:t>
            </a:r>
            <a:endParaRPr lang="en-US" sz="1150" dirty="0"/>
          </a:p>
        </p:txBody>
      </p:sp>
      <p:sp>
        <p:nvSpPr>
          <p:cNvPr id="22" name="Text 20"/>
          <p:cNvSpPr txBox="1"/>
          <p:nvPr/>
        </p:nvSpPr>
        <p:spPr>
          <a:xfrm>
            <a:off x="640080" y="6492240"/>
            <a:ext cx="86868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The LLM Council — decision support only, requires human clinical sign-off</a:t>
            </a:r>
            <a:endParaRPr lang="en-US" sz="900" dirty="0"/>
          </a:p>
        </p:txBody>
      </p:sp>
      <p:sp>
        <p:nvSpPr>
          <p:cNvPr id="23" name="Text 21"/>
          <p:cNvSpPr txBox="1"/>
          <p:nvPr/>
        </p:nvSpPr>
        <p:spPr>
          <a:xfrm>
            <a:off x="11612880" y="6492240"/>
            <a:ext cx="45720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1A1A1A"/>
                </a:solidFill>
                <a:latin typeface="Arial" pitchFamily="34" charset="0"/>
                <a:ea typeface="Arial" pitchFamily="34" charset="-122"/>
                <a:cs typeface="Arial" pitchFamily="34" charset="-120"/>
              </a:rPr>
              <a:t>Live demo</a:t>
            </a:r>
            <a:endParaRPr lang="en-US" sz="4000" dirty="0"/>
          </a:p>
        </p:txBody>
      </p:sp>
      <p:sp>
        <p:nvSpPr>
          <p:cNvPr id="3" name="Text 1"/>
          <p:cNvSpPr txBox="1"/>
          <p:nvPr/>
        </p:nvSpPr>
        <p:spPr>
          <a:xfrm>
            <a:off x="822960" y="3566160"/>
            <a:ext cx="10058400" cy="457200"/>
          </a:xfrm>
          <a:prstGeom prst="rect">
            <a:avLst/>
          </a:prstGeom>
          <a:noFill/>
          <a:ln/>
        </p:spPr>
        <p:txBody>
          <a:bodyPr wrap="square" lIns="0" tIns="0" rIns="0" bIns="0" rtlCol="0" anchor="ctr"/>
          <a:lstStyle/>
          <a:p>
            <a:pPr indent="0" marL="0">
              <a:buNone/>
            </a:pPr>
            <a:r>
              <a:rPr lang="en-US" sz="1700" dirty="0">
                <a:solidFill>
                  <a:srgbClr val="595959"/>
                </a:solidFill>
                <a:latin typeface="Arial" pitchFamily="34" charset="0"/>
                <a:ea typeface="Arial" pitchFamily="34" charset="-122"/>
                <a:cs typeface="Arial" pitchFamily="34" charset="-120"/>
              </a:rPr>
              <a:t>Real case  ·  real models  ·  real citations</a:t>
            </a:r>
            <a:endParaRPr lang="en-US" sz="1700" dirty="0"/>
          </a:p>
        </p:txBody>
      </p:sp>
      <p:sp>
        <p:nvSpPr>
          <p:cNvPr id="4" name="Shape 2"/>
          <p:cNvSpPr/>
          <p:nvPr/>
        </p:nvSpPr>
        <p:spPr>
          <a:xfrm>
            <a:off x="822960" y="4160520"/>
            <a:ext cx="2834640" cy="0"/>
          </a:xfrm>
          <a:prstGeom prst="line">
            <a:avLst/>
          </a:prstGeom>
          <a:noFill/>
          <a:ln w="9525">
            <a:solidFill>
              <a:srgbClr val="D9D9D9"/>
            </a:solidFill>
            <a:prstDash val="solid"/>
          </a:ln>
        </p:spPr>
      </p:sp>
      <p:sp>
        <p:nvSpPr>
          <p:cNvPr id="5" name="Text 3"/>
          <p:cNvSpPr txBox="1"/>
          <p:nvPr/>
        </p:nvSpPr>
        <p:spPr>
          <a:xfrm>
            <a:off x="822960" y="4297680"/>
            <a:ext cx="10058400" cy="320040"/>
          </a:xfrm>
          <a:prstGeom prst="rect">
            <a:avLst/>
          </a:prstGeom>
          <a:noFill/>
          <a:ln/>
        </p:spPr>
        <p:txBody>
          <a:bodyPr wrap="square" lIns="0" tIns="0" rIns="0" bIns="0" rtlCol="0" anchor="ctr"/>
          <a:lstStyle/>
          <a:p>
            <a:pPr indent="0" marL="0">
              <a:buNone/>
            </a:pPr>
            <a:r>
              <a:rPr lang="en-US" sz="1250" b="1" dirty="0">
                <a:solidFill>
                  <a:srgbClr val="2C4A52"/>
                </a:solidFill>
                <a:latin typeface="Arial" pitchFamily="34" charset="0"/>
                <a:ea typeface="Arial" pitchFamily="34" charset="-122"/>
                <a:cs typeface="Arial" pitchFamily="34" charset="-120"/>
              </a:rPr>
              <a:t>A completed run, walked through live — a full run can take 30–45 minutes on the free tier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100" b="1" spc="150" kern="0" dirty="0">
                <a:solidFill>
                  <a:srgbClr val="8C8C8C"/>
                </a:solidFill>
                <a:latin typeface="Arial" pitchFamily="34" charset="0"/>
                <a:ea typeface="Arial" pitchFamily="34" charset="-122"/>
                <a:cs typeface="Arial" pitchFamily="34" charset="-120"/>
              </a:rPr>
              <a:t>ARCHITECTURE</a:t>
            </a:r>
            <a:endParaRPr lang="en-US" sz="1100" dirty="0"/>
          </a:p>
        </p:txBody>
      </p:sp>
      <p:sp>
        <p:nvSpPr>
          <p:cNvPr id="3" name="Text 1"/>
          <p:cNvSpPr txBox="1"/>
          <p:nvPr/>
        </p:nvSpPr>
        <p:spPr>
          <a:xfrm>
            <a:off x="640080" y="777240"/>
            <a:ext cx="10881360" cy="82296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How a case becomes a signed-off report</a:t>
            </a:r>
            <a:endParaRPr lang="en-US" sz="3000" dirty="0"/>
          </a:p>
        </p:txBody>
      </p:sp>
      <p:pic>
        <p:nvPicPr>
          <p:cNvPr id="4" name="Image 0" descr="/home/claude/deck/architecture.png">    </p:cNvPr>
          <p:cNvPicPr>
            <a:picLocks noChangeAspect="1"/>
          </p:cNvPicPr>
          <p:nvPr/>
        </p:nvPicPr>
        <p:blipFill>
          <a:blip r:embed="rId1"/>
          <a:stretch>
            <a:fillRect/>
          </a:stretch>
        </p:blipFill>
        <p:spPr>
          <a:xfrm>
            <a:off x="2079067" y="1508760"/>
            <a:ext cx="8030817" cy="4617720"/>
          </a:xfrm>
          <a:prstGeom prst="rect">
            <a:avLst/>
          </a:prstGeom>
        </p:spPr>
      </p:pic>
      <p:sp>
        <p:nvSpPr>
          <p:cNvPr id="5" name="Text 2"/>
          <p:cNvSpPr txBox="1"/>
          <p:nvPr/>
        </p:nvSpPr>
        <p:spPr>
          <a:xfrm>
            <a:off x="640080" y="6199632"/>
            <a:ext cx="10881360" cy="274320"/>
          </a:xfrm>
          <a:prstGeom prst="rect">
            <a:avLst/>
          </a:prstGeom>
          <a:noFill/>
          <a:ln/>
        </p:spPr>
        <p:txBody>
          <a:bodyPr wrap="square" lIns="0" tIns="0" rIns="0" bIns="0" rtlCol="0" anchor="ctr"/>
          <a:lstStyle/>
          <a:p>
            <a:pPr algn="ctr" indent="0" marL="0">
              <a:buNone/>
            </a:pPr>
            <a:r>
              <a:rPr lang="en-US" sz="1050" i="1" dirty="0">
                <a:solidFill>
                  <a:srgbClr val="8C8C8C"/>
                </a:solidFill>
                <a:latin typeface="Arial" pitchFamily="34" charset="0"/>
                <a:ea typeface="Arial" pitchFamily="34" charset="-122"/>
                <a:cs typeface="Arial" pitchFamily="34" charset="-120"/>
              </a:rPr>
              <a:t>Report page (right edge): built, tested, and verified — every ID clickable, confirmed against a real completed run.</a:t>
            </a:r>
            <a:endParaRPr lang="en-US" sz="1050" dirty="0"/>
          </a:p>
        </p:txBody>
      </p:sp>
      <p:sp>
        <p:nvSpPr>
          <p:cNvPr id="6" name="Text 3"/>
          <p:cNvSpPr txBox="1"/>
          <p:nvPr/>
        </p:nvSpPr>
        <p:spPr>
          <a:xfrm>
            <a:off x="11612880" y="6492240"/>
            <a:ext cx="45720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100" b="1" spc="150" kern="0" dirty="0">
                <a:solidFill>
                  <a:srgbClr val="8C8C8C"/>
                </a:solidFill>
                <a:latin typeface="Arial" pitchFamily="34" charset="0"/>
                <a:ea typeface="Arial" pitchFamily="34" charset="-122"/>
                <a:cs typeface="Arial" pitchFamily="34" charset="-120"/>
              </a:rPr>
              <a:t>THE COUNCIL</a:t>
            </a:r>
            <a:endParaRPr lang="en-US" sz="1100" dirty="0"/>
          </a:p>
        </p:txBody>
      </p:sp>
      <p:sp>
        <p:nvSpPr>
          <p:cNvPr id="3" name="Text 1"/>
          <p:cNvSpPr txBox="1"/>
          <p:nvPr/>
        </p:nvSpPr>
        <p:spPr>
          <a:xfrm>
            <a:off x="640080" y="777240"/>
            <a:ext cx="10881360" cy="82296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Seven roles, each grounded in its own evidence</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08792" cy="914400"/>
        </p:xfrm>
        <a:graphic>
          <a:graphicData uri="http://schemas.openxmlformats.org/drawingml/2006/table">
            <a:tbl>
              <a:tblPr/>
              <a:tblGrid>
                <a:gridCol w="2743200"/>
                <a:gridCol w="6153912"/>
                <a:gridCol w="2011680"/>
              </a:tblGrid>
              <a:tr h="411480">
                <a:tc>
                  <a:txBody>
                    <a:bodyPr/>
                    <a:lstStyle/>
                    <a:p>
                      <a:pPr indent="0" marL="0">
                        <a:buNone/>
                      </a:pPr>
                      <a:r>
                        <a:rPr lang="en-US" sz="1250" b="1" dirty="0">
                          <a:solidFill>
                            <a:srgbClr val="1A1A1A"/>
                          </a:solidFill>
                          <a:latin typeface="Arial" pitchFamily="34" charset="0"/>
                          <a:ea typeface="Arial" pitchFamily="34" charset="-122"/>
                          <a:cs typeface="Arial" pitchFamily="34" charset="-120"/>
                        </a:rPr>
                        <a:t>Role</a:t>
                      </a:r>
                      <a:endParaRPr lang="en-US" sz="125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5875" cap="flat" cmpd="sng" algn="ctr">
                      <a:solidFill>
                        <a:srgbClr val="1A1A1A"/>
                      </a:solidFill>
                      <a:prstDash val="solid"/>
                      <a:round/>
                      <a:headEnd type="none" w="med" len="med"/>
                      <a:tailEnd type="none" w="med" len="med"/>
                    </a:lnB>
                    <a:solidFill>
                      <a:srgbClr val="FFFFFF"/>
                    </a:solidFill>
                  </a:tcPr>
                </a:tc>
                <a:tc>
                  <a:txBody>
                    <a:bodyPr/>
                    <a:lstStyle/>
                    <a:p>
                      <a:pPr indent="0" marL="0">
                        <a:buNone/>
                      </a:pPr>
                      <a:r>
                        <a:rPr lang="en-US" sz="1250" b="1" dirty="0">
                          <a:solidFill>
                            <a:srgbClr val="1A1A1A"/>
                          </a:solidFill>
                          <a:latin typeface="Arial" pitchFamily="34" charset="0"/>
                          <a:ea typeface="Arial" pitchFamily="34" charset="-122"/>
                          <a:cs typeface="Arial" pitchFamily="34" charset="-120"/>
                        </a:rPr>
                        <a:t>Stance formed by</a:t>
                      </a:r>
                      <a:endParaRPr lang="en-US" sz="125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5875" cap="flat" cmpd="sng" algn="ctr">
                      <a:solidFill>
                        <a:srgbClr val="1A1A1A"/>
                      </a:solidFill>
                      <a:prstDash val="solid"/>
                      <a:round/>
                      <a:headEnd type="none" w="med" len="med"/>
                      <a:tailEnd type="none" w="med" len="med"/>
                    </a:lnB>
                    <a:solidFill>
                      <a:srgbClr val="FFFFFF"/>
                    </a:solidFill>
                  </a:tcPr>
                </a:tc>
                <a:tc>
                  <a:txBody>
                    <a:bodyPr/>
                    <a:lstStyle/>
                    <a:p>
                      <a:pPr indent="0" marL="0">
                        <a:buNone/>
                      </a:pPr>
                      <a:r>
                        <a:rPr lang="en-US" sz="1250" b="1" dirty="0">
                          <a:solidFill>
                            <a:srgbClr val="1A1A1A"/>
                          </a:solidFill>
                          <a:latin typeface="Arial" pitchFamily="34" charset="0"/>
                          <a:ea typeface="Arial" pitchFamily="34" charset="-122"/>
                          <a:cs typeface="Arial" pitchFamily="34" charset="-120"/>
                        </a:rPr>
                        <a:t>Grounded in</a:t>
                      </a:r>
                      <a:endParaRPr lang="en-US" sz="125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5875" cap="flat" cmpd="sng" algn="ctr">
                      <a:solidFill>
                        <a:srgbClr val="1A1A1A"/>
                      </a:solidFill>
                      <a:prstDash val="solid"/>
                      <a:round/>
                      <a:headEnd type="none" w="med" len="med"/>
                      <a:tailEnd type="none" w="med" len="med"/>
                    </a:lnB>
                    <a:solidFill>
                      <a:srgbClr val="FFFFFF"/>
                    </a:solidFill>
                  </a:tcPr>
                </a:tc>
              </a:tr>
              <a:tr h="530352">
                <a:tc>
                  <a:txBody>
                    <a:bodyPr/>
                    <a:lstStyle/>
                    <a:p>
                      <a:pPr indent="0" marL="0">
                        <a:buNone/>
                      </a:pPr>
                      <a:r>
                        <a:rPr lang="en-US" sz="1200" dirty="0">
                          <a:solidFill>
                            <a:srgbClr val="1A1A1A"/>
                          </a:solidFill>
                          <a:latin typeface="Arial" pitchFamily="34" charset="0"/>
                          <a:ea typeface="Arial" pitchFamily="34" charset="-122"/>
                          <a:cs typeface="Arial" pitchFamily="34" charset="-120"/>
                        </a:rPr>
                        <a:t>Lead Surgeon</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Leans toward intervention — overridden the moment evidence doesn't support it</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Surgical risk, operative protocol</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30352">
                <a:tc>
                  <a:txBody>
                    <a:bodyPr/>
                    <a:lstStyle/>
                    <a:p>
                      <a:pPr indent="0" marL="0">
                        <a:buNone/>
                      </a:pPr>
                      <a:r>
                        <a:rPr lang="en-US" sz="1200" dirty="0">
                          <a:solidFill>
                            <a:srgbClr val="1A1A1A"/>
                          </a:solidFill>
                          <a:latin typeface="Arial" pitchFamily="34" charset="0"/>
                          <a:ea typeface="Arial" pitchFamily="34" charset="-122"/>
                          <a:cs typeface="Arial" pitchFamily="34" charset="-120"/>
                        </a:rPr>
                        <a:t>Specialist Physician</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No built-in lean — weighs disease trajectory vs. medical management</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Disease guidelines, alternatives</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30352">
                <a:tc>
                  <a:txBody>
                    <a:bodyPr/>
                    <a:lstStyle/>
                    <a:p>
                      <a:pPr indent="0" marL="0">
                        <a:buNone/>
                      </a:pPr>
                      <a:r>
                        <a:rPr lang="en-US" sz="1200" dirty="0">
                          <a:solidFill>
                            <a:srgbClr val="1A1A1A"/>
                          </a:solidFill>
                          <a:latin typeface="Arial" pitchFamily="34" charset="0"/>
                          <a:ea typeface="Arial" pitchFamily="34" charset="-122"/>
                          <a:cs typeface="Arial" pitchFamily="34" charset="-120"/>
                        </a:rPr>
                        <a:t>Anaesthesia &amp; Crit. Care</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Caution is a standard, not a bias — a real gap forces “conditional”</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ASA fitness, ICU recovery</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30352">
                <a:tc>
                  <a:txBody>
                    <a:bodyPr/>
                    <a:lstStyle/>
                    <a:p>
                      <a:pPr indent="0" marL="0">
                        <a:buNone/>
                      </a:pPr>
                      <a:r>
                        <a:rPr lang="en-US" sz="1200" dirty="0">
                          <a:solidFill>
                            <a:srgbClr val="1A1A1A"/>
                          </a:solidFill>
                          <a:latin typeface="Arial" pitchFamily="34" charset="0"/>
                          <a:ea typeface="Arial" pitchFamily="34" charset="-122"/>
                          <a:cs typeface="Arial" pitchFamily="34" charset="-120"/>
                        </a:rPr>
                        <a:t>Admin &amp; Ethics</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Checks process, not medicine — an undocumented step is a real gap</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Consent, protocol, resources</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30352">
                <a:tc>
                  <a:txBody>
                    <a:bodyPr/>
                    <a:lstStyle/>
                    <a:p>
                      <a:pPr indent="0" marL="0">
                        <a:buNone/>
                      </a:pPr>
                      <a:r>
                        <a:rPr lang="en-US" sz="1200" dirty="0">
                          <a:solidFill>
                            <a:srgbClr val="1A1A1A"/>
                          </a:solidFill>
                          <a:latin typeface="Arial" pitchFamily="34" charset="0"/>
                          <a:ea typeface="Arial" pitchFamily="34" charset="-122"/>
                          <a:cs typeface="Arial" pitchFamily="34" charset="-120"/>
                        </a:rPr>
                        <a:t>Judges A / B</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Score + write notes — on a different model from the specialists</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A written rubric</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30352">
                <a:tc>
                  <a:txBody>
                    <a:bodyPr/>
                    <a:lstStyle/>
                    <a:p>
                      <a:pPr indent="0" marL="0">
                        <a:buNone/>
                      </a:pPr>
                      <a:r>
                        <a:rPr lang="en-US" sz="1200" dirty="0">
                          <a:solidFill>
                            <a:srgbClr val="1A1A1A"/>
                          </a:solidFill>
                          <a:latin typeface="Arial" pitchFamily="34" charset="0"/>
                          <a:ea typeface="Arial" pitchFamily="34" charset="-122"/>
                          <a:cs typeface="Arial" pitchFamily="34" charset="-120"/>
                        </a:rPr>
                        <a:t>Red Team</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Attacks the process — missing info, contradictions, injection</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Attack checklists</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30352">
                <a:tc>
                  <a:txBody>
                    <a:bodyPr/>
                    <a:lstStyle/>
                    <a:p>
                      <a:pPr indent="0" marL="0">
                        <a:buNone/>
                      </a:pPr>
                      <a:r>
                        <a:rPr lang="en-US" sz="1200" dirty="0">
                          <a:solidFill>
                            <a:srgbClr val="1A1A1A"/>
                          </a:solidFill>
                          <a:latin typeface="Arial" pitchFamily="34" charset="0"/>
                          <a:ea typeface="Arial" pitchFamily="34" charset="-122"/>
                          <a:cs typeface="Arial" pitchFamily="34" charset="-120"/>
                        </a:rPr>
                        <a:t>Chair</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Synthesizes only — cites existing claims, never invents one</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Nothing new</a:t>
                      </a:r>
                      <a:endParaRPr lang="en-US" sz="1200" dirty="0">
                        <a:latin typeface="Arial" charset="0"/>
                        <a:ea typeface="Arial" charset="0"/>
                        <a:cs typeface="Arial"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6217920"/>
            <a:ext cx="10881360" cy="320040"/>
          </a:xfrm>
          <a:prstGeom prst="rect">
            <a:avLst/>
          </a:prstGeom>
          <a:noFill/>
          <a:ln/>
        </p:spPr>
        <p:txBody>
          <a:bodyPr wrap="square" lIns="0" tIns="0" rIns="0" bIns="0" rtlCol="0" anchor="ctr"/>
          <a:lstStyle/>
          <a:p>
            <a:pPr indent="0" marL="0">
              <a:buNone/>
            </a:pPr>
            <a:r>
              <a:rPr lang="en-US" sz="1200" b="1" i="1" dirty="0">
                <a:solidFill>
                  <a:srgbClr val="2C4A52"/>
                </a:solidFill>
                <a:latin typeface="Arial" pitchFamily="34" charset="0"/>
                <a:ea typeface="Arial" pitchFamily="34" charset="-122"/>
                <a:cs typeface="Arial" pitchFamily="34" charset="-120"/>
              </a:rPr>
              <a:t>Four differentiated specialists beats seven shallow ones</a:t>
            </a:r>
            <a:pPr indent="0" marL="0">
              <a:buNone/>
            </a:pPr>
            <a:r>
              <a:rPr lang="en-US" sz="1200" i="1" dirty="0">
                <a:solidFill>
                  <a:srgbClr val="595959"/>
                </a:solidFill>
                <a:latin typeface="Arial" pitchFamily="34" charset="0"/>
                <a:ea typeface="Arial" pitchFamily="34" charset="-122"/>
                <a:cs typeface="Arial" pitchFamily="34" charset="-120"/>
              </a:rPr>
              <a:t> — each argues only what its own knowledge base can ground.</a:t>
            </a:r>
            <a:endParaRPr lang="en-US" sz="1200" dirty="0"/>
          </a:p>
        </p:txBody>
      </p:sp>
      <p:sp>
        <p:nvSpPr>
          <p:cNvPr id="6" name="Text 3"/>
          <p:cNvSpPr txBox="1"/>
          <p:nvPr/>
        </p:nvSpPr>
        <p:spPr>
          <a:xfrm>
            <a:off x="11612880" y="6492240"/>
            <a:ext cx="45720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100" b="1" spc="150" kern="0" dirty="0">
                <a:solidFill>
                  <a:srgbClr val="8C8C8C"/>
                </a:solidFill>
                <a:latin typeface="Arial" pitchFamily="34" charset="0"/>
                <a:ea typeface="Arial" pitchFamily="34" charset="-122"/>
                <a:cs typeface="Arial" pitchFamily="34" charset="-120"/>
              </a:rPr>
              <a:t>DELIBERATION PROTOCOL</a:t>
            </a:r>
            <a:endParaRPr lang="en-US" sz="1100" dirty="0"/>
          </a:p>
        </p:txBody>
      </p:sp>
      <p:sp>
        <p:nvSpPr>
          <p:cNvPr id="3" name="Text 1"/>
          <p:cNvSpPr txBox="1"/>
          <p:nvPr/>
        </p:nvSpPr>
        <p:spPr>
          <a:xfrm>
            <a:off x="640080" y="777240"/>
            <a:ext cx="10881360" cy="82296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Two rounds — with a real feedback loop, not two opinions</a:t>
            </a:r>
            <a:endParaRPr lang="en-US" sz="3000" dirty="0"/>
          </a:p>
        </p:txBody>
      </p:sp>
      <p:sp>
        <p:nvSpPr>
          <p:cNvPr id="4" name="Text 2"/>
          <p:cNvSpPr txBox="1"/>
          <p:nvPr/>
        </p:nvSpPr>
        <p:spPr>
          <a:xfrm>
            <a:off x="640080" y="1691640"/>
            <a:ext cx="457200" cy="365760"/>
          </a:xfrm>
          <a:prstGeom prst="rect">
            <a:avLst/>
          </a:prstGeom>
          <a:noFill/>
          <a:ln/>
        </p:spPr>
        <p:txBody>
          <a:bodyPr wrap="square" lIns="0" tIns="0" rIns="0" bIns="0" rtlCol="0" anchor="ctr"/>
          <a:lstStyle/>
          <a:p>
            <a:pPr indent="0" marL="0">
              <a:buNone/>
            </a:pPr>
            <a:r>
              <a:rPr lang="en-US" sz="1600" b="1" dirty="0">
                <a:solidFill>
                  <a:srgbClr val="2C4A52"/>
                </a:solidFill>
                <a:latin typeface="Arial" pitchFamily="34" charset="0"/>
                <a:ea typeface="Arial" pitchFamily="34" charset="-122"/>
                <a:cs typeface="Arial" pitchFamily="34" charset="-120"/>
              </a:rPr>
              <a:t>1.</a:t>
            </a:r>
            <a:endParaRPr lang="en-US" sz="1600" dirty="0"/>
          </a:p>
        </p:txBody>
      </p:sp>
      <p:sp>
        <p:nvSpPr>
          <p:cNvPr id="5" name="Text 3"/>
          <p:cNvSpPr txBox="1"/>
          <p:nvPr/>
        </p:nvSpPr>
        <p:spPr>
          <a:xfrm>
            <a:off x="1143000" y="1673352"/>
            <a:ext cx="10058400" cy="36576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Round 1 — opening arguments</a:t>
            </a:r>
            <a:endParaRPr lang="en-US" sz="1500" dirty="0"/>
          </a:p>
        </p:txBody>
      </p:sp>
      <p:sp>
        <p:nvSpPr>
          <p:cNvPr id="6" name="Text 4"/>
          <p:cNvSpPr txBox="1"/>
          <p:nvPr/>
        </p:nvSpPr>
        <p:spPr>
          <a:xfrm>
            <a:off x="1143000" y="2039112"/>
            <a:ext cx="10332720" cy="502920"/>
          </a:xfrm>
          <a:prstGeom prst="rect">
            <a:avLst/>
          </a:prstGeom>
          <a:noFill/>
          <a:ln/>
        </p:spPr>
        <p:txBody>
          <a:bodyPr wrap="square" lIns="0" tIns="0" rIns="0" bIns="0" rtlCol="0" anchor="ctr"/>
          <a:lstStyle/>
          <a:p>
            <a:pPr indent="0" marL="0">
              <a:lnSpc>
                <a:spcPct val="120000"/>
              </a:lnSpc>
              <a:buNone/>
            </a:pPr>
            <a:r>
              <a:rPr lang="en-US" sz="1250" dirty="0">
                <a:solidFill>
                  <a:srgbClr val="595959"/>
                </a:solidFill>
                <a:latin typeface="Arial" pitchFamily="34" charset="0"/>
                <a:ea typeface="Arial" pitchFamily="34" charset="-122"/>
                <a:cs typeface="Arial" pitchFamily="34" charset="-120"/>
              </a:rPr>
              <a:t>Each specialist argues independently and in parallel, grounded only in its own knowledge base. No specialist sees another's argument.</a:t>
            </a:r>
            <a:endParaRPr lang="en-US" sz="1250" dirty="0"/>
          </a:p>
        </p:txBody>
      </p:sp>
      <p:sp>
        <p:nvSpPr>
          <p:cNvPr id="7" name="Shape 5"/>
          <p:cNvSpPr/>
          <p:nvPr/>
        </p:nvSpPr>
        <p:spPr>
          <a:xfrm>
            <a:off x="1143000" y="2715768"/>
            <a:ext cx="10405872" cy="0"/>
          </a:xfrm>
          <a:prstGeom prst="line">
            <a:avLst/>
          </a:prstGeom>
          <a:noFill/>
          <a:ln w="9525">
            <a:solidFill>
              <a:srgbClr val="D9D9D9"/>
            </a:solidFill>
            <a:prstDash val="solid"/>
          </a:ln>
        </p:spPr>
      </p:sp>
      <p:sp>
        <p:nvSpPr>
          <p:cNvPr id="8" name="Text 6"/>
          <p:cNvSpPr txBox="1"/>
          <p:nvPr/>
        </p:nvSpPr>
        <p:spPr>
          <a:xfrm>
            <a:off x="640080" y="2862072"/>
            <a:ext cx="457200" cy="365760"/>
          </a:xfrm>
          <a:prstGeom prst="rect">
            <a:avLst/>
          </a:prstGeom>
          <a:noFill/>
          <a:ln/>
        </p:spPr>
        <p:txBody>
          <a:bodyPr wrap="square" lIns="0" tIns="0" rIns="0" bIns="0" rtlCol="0" anchor="ctr"/>
          <a:lstStyle/>
          <a:p>
            <a:pPr indent="0" marL="0">
              <a:buNone/>
            </a:pPr>
            <a:r>
              <a:rPr lang="en-US" sz="1600" b="1" dirty="0">
                <a:solidFill>
                  <a:srgbClr val="2C4A52"/>
                </a:solidFill>
                <a:latin typeface="Arial" pitchFamily="34" charset="0"/>
                <a:ea typeface="Arial" pitchFamily="34" charset="-122"/>
                <a:cs typeface="Arial" pitchFamily="34" charset="-120"/>
              </a:rPr>
              <a:t>2.</a:t>
            </a:r>
            <a:endParaRPr lang="en-US" sz="1600" dirty="0"/>
          </a:p>
        </p:txBody>
      </p:sp>
      <p:sp>
        <p:nvSpPr>
          <p:cNvPr id="9" name="Text 7"/>
          <p:cNvSpPr txBox="1"/>
          <p:nvPr/>
        </p:nvSpPr>
        <p:spPr>
          <a:xfrm>
            <a:off x="1143000" y="2843784"/>
            <a:ext cx="10058400" cy="36576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Judges score, and write notes</a:t>
            </a:r>
            <a:endParaRPr lang="en-US" sz="1500" dirty="0"/>
          </a:p>
        </p:txBody>
      </p:sp>
      <p:sp>
        <p:nvSpPr>
          <p:cNvPr id="10" name="Text 8"/>
          <p:cNvSpPr txBox="1"/>
          <p:nvPr/>
        </p:nvSpPr>
        <p:spPr>
          <a:xfrm>
            <a:off x="1143000" y="3209544"/>
            <a:ext cx="10332720" cy="502920"/>
          </a:xfrm>
          <a:prstGeom prst="rect">
            <a:avLst/>
          </a:prstGeom>
          <a:noFill/>
          <a:ln/>
        </p:spPr>
        <p:txBody>
          <a:bodyPr wrap="square" lIns="0" tIns="0" rIns="0" bIns="0" rtlCol="0" anchor="ctr"/>
          <a:lstStyle/>
          <a:p>
            <a:pPr indent="0" marL="0">
              <a:lnSpc>
                <a:spcPct val="120000"/>
              </a:lnSpc>
              <a:buNone/>
            </a:pPr>
            <a:r>
              <a:rPr lang="en-US" sz="1250" dirty="0">
                <a:solidFill>
                  <a:srgbClr val="595959"/>
                </a:solidFill>
                <a:latin typeface="Arial" pitchFamily="34" charset="0"/>
                <a:ea typeface="Arial" pitchFamily="34" charset="-122"/>
                <a:cs typeface="Arial" pitchFamily="34" charset="-120"/>
              </a:rPr>
              <a:t>Groundedness, logic, uncertainty. Judges also write short notes on what's weak — but never see each other's scores, and never touch which recommendation is right.</a:t>
            </a:r>
            <a:endParaRPr lang="en-US" sz="1250" dirty="0"/>
          </a:p>
        </p:txBody>
      </p:sp>
      <p:sp>
        <p:nvSpPr>
          <p:cNvPr id="11" name="Shape 9"/>
          <p:cNvSpPr/>
          <p:nvPr/>
        </p:nvSpPr>
        <p:spPr>
          <a:xfrm>
            <a:off x="1143000" y="3886200"/>
            <a:ext cx="10405872" cy="0"/>
          </a:xfrm>
          <a:prstGeom prst="line">
            <a:avLst/>
          </a:prstGeom>
          <a:noFill/>
          <a:ln w="9525">
            <a:solidFill>
              <a:srgbClr val="D9D9D9"/>
            </a:solidFill>
            <a:prstDash val="solid"/>
          </a:ln>
        </p:spPr>
      </p:sp>
      <p:sp>
        <p:nvSpPr>
          <p:cNvPr id="12" name="Text 10"/>
          <p:cNvSpPr txBox="1"/>
          <p:nvPr/>
        </p:nvSpPr>
        <p:spPr>
          <a:xfrm>
            <a:off x="640080" y="4032504"/>
            <a:ext cx="457200" cy="365760"/>
          </a:xfrm>
          <a:prstGeom prst="rect">
            <a:avLst/>
          </a:prstGeom>
          <a:noFill/>
          <a:ln/>
        </p:spPr>
        <p:txBody>
          <a:bodyPr wrap="square" lIns="0" tIns="0" rIns="0" bIns="0" rtlCol="0" anchor="ctr"/>
          <a:lstStyle/>
          <a:p>
            <a:pPr indent="0" marL="0">
              <a:buNone/>
            </a:pPr>
            <a:r>
              <a:rPr lang="en-US" sz="1600" b="1" dirty="0">
                <a:solidFill>
                  <a:srgbClr val="2C4A52"/>
                </a:solidFill>
                <a:latin typeface="Arial" pitchFamily="34" charset="0"/>
                <a:ea typeface="Arial" pitchFamily="34" charset="-122"/>
                <a:cs typeface="Arial" pitchFamily="34" charset="-120"/>
              </a:rPr>
              <a:t>3.</a:t>
            </a:r>
            <a:endParaRPr lang="en-US" sz="1600" dirty="0"/>
          </a:p>
        </p:txBody>
      </p:sp>
      <p:sp>
        <p:nvSpPr>
          <p:cNvPr id="13" name="Text 11"/>
          <p:cNvSpPr txBox="1"/>
          <p:nvPr/>
        </p:nvSpPr>
        <p:spPr>
          <a:xfrm>
            <a:off x="1143000" y="4014216"/>
            <a:ext cx="10058400" cy="36576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Round 2 — revise and rebut</a:t>
            </a:r>
            <a:endParaRPr lang="en-US" sz="1500" dirty="0"/>
          </a:p>
        </p:txBody>
      </p:sp>
      <p:sp>
        <p:nvSpPr>
          <p:cNvPr id="14" name="Text 12"/>
          <p:cNvSpPr txBox="1"/>
          <p:nvPr/>
        </p:nvSpPr>
        <p:spPr>
          <a:xfrm>
            <a:off x="1143000" y="4379976"/>
            <a:ext cx="10332720" cy="502920"/>
          </a:xfrm>
          <a:prstGeom prst="rect">
            <a:avLst/>
          </a:prstGeom>
          <a:noFill/>
          <a:ln/>
        </p:spPr>
        <p:txBody>
          <a:bodyPr wrap="square" lIns="0" tIns="0" rIns="0" bIns="0" rtlCol="0" anchor="ctr"/>
          <a:lstStyle/>
          <a:p>
            <a:pPr indent="0" marL="0">
              <a:lnSpc>
                <a:spcPct val="120000"/>
              </a:lnSpc>
              <a:buNone/>
            </a:pPr>
            <a:r>
              <a:rPr lang="en-US" sz="1250" dirty="0">
                <a:solidFill>
                  <a:srgbClr val="595959"/>
                </a:solidFill>
                <a:latin typeface="Arial" pitchFamily="34" charset="0"/>
                <a:ea typeface="Arial" pitchFamily="34" charset="-122"/>
                <a:cs typeface="Arial" pitchFamily="34" charset="-120"/>
              </a:rPr>
              <a:t>Each specialist sees the others' Round 1 arguments and the judges' notes on its own, then keeps, revises, or drops every claim, and rebuts the strongest opposing point.</a:t>
            </a:r>
            <a:endParaRPr lang="en-US" sz="1250" dirty="0"/>
          </a:p>
        </p:txBody>
      </p:sp>
      <p:sp>
        <p:nvSpPr>
          <p:cNvPr id="15" name="Shape 13"/>
          <p:cNvSpPr/>
          <p:nvPr/>
        </p:nvSpPr>
        <p:spPr>
          <a:xfrm>
            <a:off x="1143000" y="5056632"/>
            <a:ext cx="10405872" cy="0"/>
          </a:xfrm>
          <a:prstGeom prst="line">
            <a:avLst/>
          </a:prstGeom>
          <a:noFill/>
          <a:ln w="9525">
            <a:solidFill>
              <a:srgbClr val="D9D9D9"/>
            </a:solidFill>
            <a:prstDash val="solid"/>
          </a:ln>
        </p:spPr>
      </p:sp>
      <p:sp>
        <p:nvSpPr>
          <p:cNvPr id="16" name="Text 14"/>
          <p:cNvSpPr txBox="1"/>
          <p:nvPr/>
        </p:nvSpPr>
        <p:spPr>
          <a:xfrm>
            <a:off x="640080" y="5202936"/>
            <a:ext cx="457200" cy="365760"/>
          </a:xfrm>
          <a:prstGeom prst="rect">
            <a:avLst/>
          </a:prstGeom>
          <a:noFill/>
          <a:ln/>
        </p:spPr>
        <p:txBody>
          <a:bodyPr wrap="square" lIns="0" tIns="0" rIns="0" bIns="0" rtlCol="0" anchor="ctr"/>
          <a:lstStyle/>
          <a:p>
            <a:pPr indent="0" marL="0">
              <a:buNone/>
            </a:pPr>
            <a:r>
              <a:rPr lang="en-US" sz="1600" b="1" dirty="0">
                <a:solidFill>
                  <a:srgbClr val="2C4A52"/>
                </a:solidFill>
                <a:latin typeface="Arial" pitchFamily="34" charset="0"/>
                <a:ea typeface="Arial" pitchFamily="34" charset="-122"/>
                <a:cs typeface="Arial" pitchFamily="34" charset="-120"/>
              </a:rPr>
              <a:t>4.</a:t>
            </a:r>
            <a:endParaRPr lang="en-US" sz="1600" dirty="0"/>
          </a:p>
        </p:txBody>
      </p:sp>
      <p:sp>
        <p:nvSpPr>
          <p:cNvPr id="17" name="Text 15"/>
          <p:cNvSpPr txBox="1"/>
          <p:nvPr/>
        </p:nvSpPr>
        <p:spPr>
          <a:xfrm>
            <a:off x="1143000" y="5184648"/>
            <a:ext cx="10058400" cy="36576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A binding rule, enforced by code</a:t>
            </a:r>
            <a:endParaRPr lang="en-US" sz="1500" dirty="0"/>
          </a:p>
        </p:txBody>
      </p:sp>
      <p:sp>
        <p:nvSpPr>
          <p:cNvPr id="18" name="Text 16"/>
          <p:cNvSpPr txBox="1"/>
          <p:nvPr/>
        </p:nvSpPr>
        <p:spPr>
          <a:xfrm>
            <a:off x="1143000" y="5550408"/>
            <a:ext cx="10332720" cy="502920"/>
          </a:xfrm>
          <a:prstGeom prst="rect">
            <a:avLst/>
          </a:prstGeom>
          <a:noFill/>
          <a:ln/>
        </p:spPr>
        <p:txBody>
          <a:bodyPr wrap="square" lIns="0" tIns="0" rIns="0" bIns="0" rtlCol="0" anchor="ctr"/>
          <a:lstStyle/>
          <a:p>
            <a:pPr indent="0" marL="0">
              <a:lnSpc>
                <a:spcPct val="120000"/>
              </a:lnSpc>
              <a:buNone/>
            </a:pPr>
            <a:r>
              <a:rPr lang="en-US" sz="1250" dirty="0">
                <a:solidFill>
                  <a:srgbClr val="595959"/>
                </a:solidFill>
                <a:latin typeface="Arial" pitchFamily="34" charset="0"/>
                <a:ea typeface="Arial" pitchFamily="34" charset="-122"/>
                <a:cs typeface="Arial" pitchFamily="34" charset="-120"/>
              </a:rPr>
              <a:t>A claim both judges independently flag cannot survive unchanged — it must be revised or dropped. There is no Round 3.</a:t>
            </a:r>
            <a:endParaRPr lang="en-US" sz="1250" dirty="0"/>
          </a:p>
        </p:txBody>
      </p:sp>
      <p:sp>
        <p:nvSpPr>
          <p:cNvPr id="19" name="Text 17"/>
          <p:cNvSpPr txBox="1"/>
          <p:nvPr/>
        </p:nvSpPr>
        <p:spPr>
          <a:xfrm>
            <a:off x="640080" y="6492240"/>
            <a:ext cx="86868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The LLM Council — decision support only, requires human clinical sign-off</a:t>
            </a:r>
            <a:endParaRPr lang="en-US" sz="900" dirty="0"/>
          </a:p>
        </p:txBody>
      </p:sp>
      <p:sp>
        <p:nvSpPr>
          <p:cNvPr id="20" name="Text 18"/>
          <p:cNvSpPr txBox="1"/>
          <p:nvPr/>
        </p:nvSpPr>
        <p:spPr>
          <a:xfrm>
            <a:off x="11612880" y="6492240"/>
            <a:ext cx="45720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100" b="1" spc="150" kern="0" dirty="0">
                <a:solidFill>
                  <a:srgbClr val="8C8C8C"/>
                </a:solidFill>
                <a:latin typeface="Arial" pitchFamily="34" charset="0"/>
                <a:ea typeface="Arial" pitchFamily="34" charset="-122"/>
                <a:cs typeface="Arial" pitchFamily="34" charset="-120"/>
              </a:rPr>
              <a:t>GROUNDING</a:t>
            </a:r>
            <a:endParaRPr lang="en-US" sz="1100" dirty="0"/>
          </a:p>
        </p:txBody>
      </p:sp>
      <p:sp>
        <p:nvSpPr>
          <p:cNvPr id="3" name="Text 1"/>
          <p:cNvSpPr txBox="1"/>
          <p:nvPr/>
        </p:nvSpPr>
        <p:spPr>
          <a:xfrm>
            <a:off x="640080" y="777240"/>
            <a:ext cx="10881360" cy="82296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Two different checks, on purpose</a:t>
            </a:r>
            <a:endParaRPr lang="en-US" sz="3000" dirty="0"/>
          </a:p>
        </p:txBody>
      </p:sp>
      <p:sp>
        <p:nvSpPr>
          <p:cNvPr id="4" name="Text 2"/>
          <p:cNvSpPr txBox="1"/>
          <p:nvPr/>
        </p:nvSpPr>
        <p:spPr>
          <a:xfrm>
            <a:off x="640080" y="1828800"/>
            <a:ext cx="5074920" cy="274320"/>
          </a:xfrm>
          <a:prstGeom prst="rect">
            <a:avLst/>
          </a:prstGeom>
          <a:noFill/>
          <a:ln/>
        </p:spPr>
        <p:txBody>
          <a:bodyPr wrap="square" lIns="0" tIns="0" rIns="0" bIns="0" rtlCol="0" anchor="ctr"/>
          <a:lstStyle/>
          <a:p>
            <a:pPr indent="0" marL="0">
              <a:buNone/>
            </a:pPr>
            <a:r>
              <a:rPr lang="en-US" sz="1150" b="1" spc="100" kern="0" dirty="0">
                <a:solidFill>
                  <a:srgbClr val="8C8C8C"/>
                </a:solidFill>
                <a:latin typeface="Arial" pitchFamily="34" charset="0"/>
                <a:ea typeface="Arial" pitchFamily="34" charset="-122"/>
                <a:cs typeface="Arial" pitchFamily="34" charset="-120"/>
              </a:rPr>
              <a:t>CODE PROVES</a:t>
            </a:r>
            <a:endParaRPr lang="en-US" sz="1150" dirty="0"/>
          </a:p>
        </p:txBody>
      </p:sp>
      <p:sp>
        <p:nvSpPr>
          <p:cNvPr id="5" name="Text 3"/>
          <p:cNvSpPr txBox="1"/>
          <p:nvPr/>
        </p:nvSpPr>
        <p:spPr>
          <a:xfrm>
            <a:off x="640080" y="2148840"/>
            <a:ext cx="5074920" cy="457200"/>
          </a:xfrm>
          <a:prstGeom prst="rect">
            <a:avLst/>
          </a:prstGeom>
          <a:noFill/>
          <a:ln/>
        </p:spPr>
        <p:txBody>
          <a:bodyPr wrap="square" lIns="0" tIns="0" rIns="0" bIns="0" rtlCol="0" anchor="ctr"/>
          <a:lstStyle/>
          <a:p>
            <a:pPr indent="0" marL="0">
              <a:buNone/>
            </a:pPr>
            <a:r>
              <a:rPr lang="en-US" sz="2100" b="1" dirty="0">
                <a:solidFill>
                  <a:srgbClr val="1A1A1A"/>
                </a:solidFill>
                <a:latin typeface="Arial" pitchFamily="34" charset="0"/>
                <a:ea typeface="Arial" pitchFamily="34" charset="-122"/>
                <a:cs typeface="Arial" pitchFamily="34" charset="-120"/>
              </a:rPr>
              <a:t>The quote exists</a:t>
            </a:r>
            <a:endParaRPr lang="en-US" sz="2100" dirty="0"/>
          </a:p>
        </p:txBody>
      </p:sp>
      <p:sp>
        <p:nvSpPr>
          <p:cNvPr id="6" name="Text 4"/>
          <p:cNvSpPr txBox="1"/>
          <p:nvPr/>
        </p:nvSpPr>
        <p:spPr>
          <a:xfrm>
            <a:off x="640080" y="2697480"/>
            <a:ext cx="5074920" cy="1280160"/>
          </a:xfrm>
          <a:prstGeom prst="rect">
            <a:avLst/>
          </a:prstGeom>
          <a:noFill/>
          <a:ln/>
        </p:spPr>
        <p:txBody>
          <a:bodyPr wrap="square" lIns="0" tIns="0" rIns="0" bIns="0" rtlCol="0" anchor="ctr"/>
          <a:lstStyle/>
          <a:p>
            <a:pPr indent="0" marL="0">
              <a:lnSpc>
                <a:spcPct val="125000"/>
              </a:lnSpc>
              <a:buNone/>
            </a:pPr>
            <a:r>
              <a:rPr lang="en-US" sz="1300" dirty="0">
                <a:solidFill>
                  <a:srgbClr val="595959"/>
                </a:solidFill>
                <a:latin typeface="Arial" pitchFamily="34" charset="0"/>
                <a:ea typeface="Arial" pitchFamily="34" charset="-122"/>
                <a:cs typeface="Arial" pitchFamily="34" charset="-120"/>
              </a:rPr>
              <a:t>A citation's passage ID is real and was actually shown this turn. The quoted text is exact and appears in that passage — checked mechanically, every time.</a:t>
            </a:r>
            <a:endParaRPr lang="en-US" sz="1300" dirty="0"/>
          </a:p>
        </p:txBody>
      </p:sp>
      <p:sp>
        <p:nvSpPr>
          <p:cNvPr id="7" name="Shape 5"/>
          <p:cNvSpPr/>
          <p:nvPr/>
        </p:nvSpPr>
        <p:spPr>
          <a:xfrm>
            <a:off x="6080760" y="1828800"/>
            <a:ext cx="0" cy="2148840"/>
          </a:xfrm>
          <a:prstGeom prst="line">
            <a:avLst/>
          </a:prstGeom>
          <a:noFill/>
          <a:ln w="9525">
            <a:solidFill>
              <a:srgbClr val="D9D9D9"/>
            </a:solidFill>
            <a:prstDash val="solid"/>
          </a:ln>
        </p:spPr>
      </p:sp>
      <p:sp>
        <p:nvSpPr>
          <p:cNvPr id="8" name="Text 6"/>
          <p:cNvSpPr txBox="1"/>
          <p:nvPr/>
        </p:nvSpPr>
        <p:spPr>
          <a:xfrm>
            <a:off x="6492240" y="1828800"/>
            <a:ext cx="5074920" cy="274320"/>
          </a:xfrm>
          <a:prstGeom prst="rect">
            <a:avLst/>
          </a:prstGeom>
          <a:noFill/>
          <a:ln/>
        </p:spPr>
        <p:txBody>
          <a:bodyPr wrap="square" lIns="0" tIns="0" rIns="0" bIns="0" rtlCol="0" anchor="ctr"/>
          <a:lstStyle/>
          <a:p>
            <a:pPr indent="0" marL="0">
              <a:buNone/>
            </a:pPr>
            <a:r>
              <a:rPr lang="en-US" sz="1150" b="1" spc="100" kern="0" dirty="0">
                <a:solidFill>
                  <a:srgbClr val="8C8C8C"/>
                </a:solidFill>
                <a:latin typeface="Arial" pitchFamily="34" charset="0"/>
                <a:ea typeface="Arial" pitchFamily="34" charset="-122"/>
                <a:cs typeface="Arial" pitchFamily="34" charset="-120"/>
              </a:rPr>
              <a:t>A JUDGE PROVES</a:t>
            </a:r>
            <a:endParaRPr lang="en-US" sz="1150" dirty="0"/>
          </a:p>
        </p:txBody>
      </p:sp>
      <p:sp>
        <p:nvSpPr>
          <p:cNvPr id="9" name="Text 7"/>
          <p:cNvSpPr txBox="1"/>
          <p:nvPr/>
        </p:nvSpPr>
        <p:spPr>
          <a:xfrm>
            <a:off x="6492240" y="2148840"/>
            <a:ext cx="5074920" cy="457200"/>
          </a:xfrm>
          <a:prstGeom prst="rect">
            <a:avLst/>
          </a:prstGeom>
          <a:noFill/>
          <a:ln/>
        </p:spPr>
        <p:txBody>
          <a:bodyPr wrap="square" lIns="0" tIns="0" rIns="0" bIns="0" rtlCol="0" anchor="ctr"/>
          <a:lstStyle/>
          <a:p>
            <a:pPr indent="0" marL="0">
              <a:buNone/>
            </a:pPr>
            <a:r>
              <a:rPr lang="en-US" sz="2100" b="1" dirty="0">
                <a:solidFill>
                  <a:srgbClr val="1A1A1A"/>
                </a:solidFill>
                <a:latin typeface="Arial" pitchFamily="34" charset="0"/>
                <a:ea typeface="Arial" pitchFamily="34" charset="-122"/>
                <a:cs typeface="Arial" pitchFamily="34" charset="-120"/>
              </a:rPr>
              <a:t>The quote means it</a:t>
            </a:r>
            <a:endParaRPr lang="en-US" sz="2100" dirty="0"/>
          </a:p>
        </p:txBody>
      </p:sp>
      <p:sp>
        <p:nvSpPr>
          <p:cNvPr id="10" name="Text 8"/>
          <p:cNvSpPr txBox="1"/>
          <p:nvPr/>
        </p:nvSpPr>
        <p:spPr>
          <a:xfrm>
            <a:off x="6492240" y="2697480"/>
            <a:ext cx="5074920" cy="1280160"/>
          </a:xfrm>
          <a:prstGeom prst="rect">
            <a:avLst/>
          </a:prstGeom>
          <a:noFill/>
          <a:ln/>
        </p:spPr>
        <p:txBody>
          <a:bodyPr wrap="square" lIns="0" tIns="0" rIns="0" bIns="0" rtlCol="0" anchor="ctr"/>
          <a:lstStyle/>
          <a:p>
            <a:pPr indent="0" marL="0">
              <a:lnSpc>
                <a:spcPct val="125000"/>
              </a:lnSpc>
              <a:buNone/>
            </a:pPr>
            <a:r>
              <a:rPr lang="en-US" sz="1300" dirty="0">
                <a:solidFill>
                  <a:srgbClr val="595959"/>
                </a:solidFill>
                <a:latin typeface="Arial" pitchFamily="34" charset="0"/>
                <a:ea typeface="Arial" pitchFamily="34" charset="-122"/>
                <a:cs typeface="Arial" pitchFamily="34" charset="-120"/>
              </a:rPr>
              <a:t>Whether a real, exact citation actually supports what the claim asserts — the judgment no check can make mechanically.</a:t>
            </a:r>
            <a:endParaRPr lang="en-US" sz="1300" dirty="0"/>
          </a:p>
        </p:txBody>
      </p:sp>
      <p:sp>
        <p:nvSpPr>
          <p:cNvPr id="11" name="Shape 9"/>
          <p:cNvSpPr/>
          <p:nvPr/>
        </p:nvSpPr>
        <p:spPr>
          <a:xfrm>
            <a:off x="640080" y="4160520"/>
            <a:ext cx="10908792" cy="0"/>
          </a:xfrm>
          <a:prstGeom prst="line">
            <a:avLst/>
          </a:prstGeom>
          <a:noFill/>
          <a:ln w="9525">
            <a:solidFill>
              <a:srgbClr val="D9D9D9"/>
            </a:solidFill>
            <a:prstDash val="solid"/>
          </a:ln>
        </p:spPr>
      </p:sp>
      <p:sp>
        <p:nvSpPr>
          <p:cNvPr id="12" name="Text 10"/>
          <p:cNvSpPr txBox="1"/>
          <p:nvPr/>
        </p:nvSpPr>
        <p:spPr>
          <a:xfrm>
            <a:off x="640080" y="4389120"/>
            <a:ext cx="10881360" cy="822960"/>
          </a:xfrm>
          <a:prstGeom prst="rect">
            <a:avLst/>
          </a:prstGeom>
          <a:noFill/>
          <a:ln/>
        </p:spPr>
        <p:txBody>
          <a:bodyPr wrap="square" lIns="0" tIns="0" rIns="0" bIns="0" rtlCol="0" anchor="ctr"/>
          <a:lstStyle/>
          <a:p>
            <a:pPr indent="0" marL="0">
              <a:lnSpc>
                <a:spcPct val="125000"/>
              </a:lnSpc>
              <a:buNone/>
            </a:pPr>
            <a:r>
              <a:rPr lang="en-US" sz="1500" b="1" dirty="0">
                <a:solidFill>
                  <a:srgbClr val="2C4A52"/>
                </a:solidFill>
                <a:latin typeface="Arial" pitchFamily="34" charset="0"/>
                <a:ea typeface="Arial" pitchFamily="34" charset="-122"/>
                <a:cs typeface="Arial" pitchFamily="34" charset="-120"/>
              </a:rPr>
              <a:t>The capping rule:  </a:t>
            </a:r>
            <a:pPr indent="0" marL="0">
              <a:lnSpc>
                <a:spcPct val="125000"/>
              </a:lnSpc>
              <a:buNone/>
            </a:pPr>
            <a:r>
              <a:rPr lang="en-US" sz="1500" dirty="0">
                <a:solidFill>
                  <a:srgbClr val="1A1A1A"/>
                </a:solidFill>
                <a:latin typeface="Arial" pitchFamily="34" charset="0"/>
                <a:ea typeface="Arial" pitchFamily="34" charset="-122"/>
                <a:cs typeface="Arial" pitchFamily="34" charset="-120"/>
              </a:rPr>
              <a:t>one citation that's real but doesn't support its claim caps that argument's groundedness score at 2 — no matter how strong every other claim is.</a:t>
            </a:r>
            <a:endParaRPr lang="en-US" sz="1500" dirty="0"/>
          </a:p>
        </p:txBody>
      </p:sp>
      <p:sp>
        <p:nvSpPr>
          <p:cNvPr id="13" name="Text 11"/>
          <p:cNvSpPr txBox="1"/>
          <p:nvPr/>
        </p:nvSpPr>
        <p:spPr>
          <a:xfrm>
            <a:off x="640080" y="6492240"/>
            <a:ext cx="86868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The LLM Council — decision support only, requires human clinical sign-off</a:t>
            </a:r>
            <a:endParaRPr lang="en-US" sz="900" dirty="0"/>
          </a:p>
        </p:txBody>
      </p:sp>
      <p:sp>
        <p:nvSpPr>
          <p:cNvPr id="14" name="Text 12"/>
          <p:cNvSpPr txBox="1"/>
          <p:nvPr/>
        </p:nvSpPr>
        <p:spPr>
          <a:xfrm>
            <a:off x="11612880" y="6492240"/>
            <a:ext cx="45720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100" b="1" spc="150" kern="0" dirty="0">
                <a:solidFill>
                  <a:srgbClr val="8C8C8C"/>
                </a:solidFill>
                <a:latin typeface="Arial" pitchFamily="34" charset="0"/>
                <a:ea typeface="Arial" pitchFamily="34" charset="-122"/>
                <a:cs typeface="Arial" pitchFamily="34" charset="-120"/>
              </a:rPr>
              <a:t>SAFETY</a:t>
            </a:r>
            <a:endParaRPr lang="en-US" sz="1100" dirty="0"/>
          </a:p>
        </p:txBody>
      </p:sp>
      <p:sp>
        <p:nvSpPr>
          <p:cNvPr id="3" name="Text 1"/>
          <p:cNvSpPr txBox="1"/>
          <p:nvPr/>
        </p:nvSpPr>
        <p:spPr>
          <a:xfrm>
            <a:off x="640080" y="777240"/>
            <a:ext cx="10881360" cy="82296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Four layers, none of them optional</a:t>
            </a:r>
            <a:endParaRPr lang="en-US" sz="3000" dirty="0"/>
          </a:p>
        </p:txBody>
      </p:sp>
      <p:sp>
        <p:nvSpPr>
          <p:cNvPr id="4" name="Text 2"/>
          <p:cNvSpPr txBox="1"/>
          <p:nvPr/>
        </p:nvSpPr>
        <p:spPr>
          <a:xfrm>
            <a:off x="640080" y="1627632"/>
            <a:ext cx="411480" cy="457200"/>
          </a:xfrm>
          <a:prstGeom prst="rect">
            <a:avLst/>
          </a:prstGeom>
          <a:noFill/>
          <a:ln/>
        </p:spPr>
        <p:txBody>
          <a:bodyPr wrap="square" lIns="0" tIns="0" rIns="0" bIns="0" rtlCol="0" anchor="ctr"/>
          <a:lstStyle/>
          <a:p>
            <a:pPr indent="0" marL="0">
              <a:buNone/>
            </a:pPr>
            <a:r>
              <a:rPr lang="en-US" sz="1500" b="1" dirty="0">
                <a:solidFill>
                  <a:srgbClr val="2C4A52"/>
                </a:solidFill>
                <a:latin typeface="Arial" pitchFamily="34" charset="0"/>
                <a:ea typeface="Arial" pitchFamily="34" charset="-122"/>
                <a:cs typeface="Arial" pitchFamily="34" charset="-120"/>
              </a:rPr>
              <a:t>1.</a:t>
            </a:r>
            <a:endParaRPr lang="en-US" sz="1500" dirty="0"/>
          </a:p>
        </p:txBody>
      </p:sp>
      <p:sp>
        <p:nvSpPr>
          <p:cNvPr id="5" name="Text 3"/>
          <p:cNvSpPr txBox="1"/>
          <p:nvPr/>
        </p:nvSpPr>
        <p:spPr>
          <a:xfrm>
            <a:off x="1097280" y="1627632"/>
            <a:ext cx="2377440" cy="457200"/>
          </a:xfrm>
          <a:prstGeom prst="rect">
            <a:avLst/>
          </a:prstGeom>
          <a:noFill/>
          <a:ln/>
        </p:spPr>
        <p:txBody>
          <a:bodyPr wrap="square" lIns="0" tIns="0" rIns="0" bIns="0" rtlCol="0" anchor="t"/>
          <a:lstStyle/>
          <a:p>
            <a:pPr indent="0" marL="0">
              <a:buNone/>
            </a:pPr>
            <a:r>
              <a:rPr lang="en-US" sz="1450" b="1" dirty="0">
                <a:solidFill>
                  <a:srgbClr val="1A1A1A"/>
                </a:solidFill>
                <a:latin typeface="Arial" pitchFamily="34" charset="0"/>
                <a:ea typeface="Arial" pitchFamily="34" charset="-122"/>
                <a:cs typeface="Arial" pitchFamily="34" charset="-120"/>
              </a:rPr>
              <a:t>Ingest</a:t>
            </a:r>
            <a:endParaRPr lang="en-US" sz="1450" dirty="0"/>
          </a:p>
        </p:txBody>
      </p:sp>
      <p:sp>
        <p:nvSpPr>
          <p:cNvPr id="6" name="Text 4"/>
          <p:cNvSpPr txBox="1"/>
          <p:nvPr/>
        </p:nvSpPr>
        <p:spPr>
          <a:xfrm>
            <a:off x="3566160" y="1627632"/>
            <a:ext cx="7955280" cy="640080"/>
          </a:xfrm>
          <a:prstGeom prst="rect">
            <a:avLst/>
          </a:prstGeom>
          <a:noFill/>
          <a:ln/>
        </p:spPr>
        <p:txBody>
          <a:bodyPr wrap="square" lIns="0" tIns="0" rIns="0" bIns="0" rtlCol="0" anchor="ctr"/>
          <a:lstStyle/>
          <a:p>
            <a:pPr indent="0" marL="0">
              <a:lnSpc>
                <a:spcPct val="118000"/>
              </a:lnSpc>
              <a:buNone/>
            </a:pPr>
            <a:r>
              <a:rPr lang="en-US" sz="1200" dirty="0">
                <a:solidFill>
                  <a:srgbClr val="595959"/>
                </a:solidFill>
                <a:latin typeface="Arial" pitchFamily="34" charset="0"/>
                <a:ea typeface="Arial" pitchFamily="34" charset="-122"/>
                <a:cs typeface="Arial" pitchFamily="34" charset="-120"/>
              </a:rPr>
              <a:t>The synthetic-data marker is required; the case is scanned for real-looking identifiers before any model ever sees it.</a:t>
            </a:r>
            <a:endParaRPr lang="en-US" sz="1200" dirty="0"/>
          </a:p>
        </p:txBody>
      </p:sp>
      <p:sp>
        <p:nvSpPr>
          <p:cNvPr id="7" name="Shape 5"/>
          <p:cNvSpPr/>
          <p:nvPr/>
        </p:nvSpPr>
        <p:spPr>
          <a:xfrm>
            <a:off x="1097280" y="2450592"/>
            <a:ext cx="10451592" cy="0"/>
          </a:xfrm>
          <a:prstGeom prst="line">
            <a:avLst/>
          </a:prstGeom>
          <a:noFill/>
          <a:ln w="9525">
            <a:solidFill>
              <a:srgbClr val="D9D9D9"/>
            </a:solidFill>
            <a:prstDash val="solid"/>
          </a:ln>
        </p:spPr>
      </p:sp>
      <p:sp>
        <p:nvSpPr>
          <p:cNvPr id="8" name="Text 6"/>
          <p:cNvSpPr txBox="1"/>
          <p:nvPr/>
        </p:nvSpPr>
        <p:spPr>
          <a:xfrm>
            <a:off x="640080" y="2587752"/>
            <a:ext cx="411480" cy="457200"/>
          </a:xfrm>
          <a:prstGeom prst="rect">
            <a:avLst/>
          </a:prstGeom>
          <a:noFill/>
          <a:ln/>
        </p:spPr>
        <p:txBody>
          <a:bodyPr wrap="square" lIns="0" tIns="0" rIns="0" bIns="0" rtlCol="0" anchor="ctr"/>
          <a:lstStyle/>
          <a:p>
            <a:pPr indent="0" marL="0">
              <a:buNone/>
            </a:pPr>
            <a:r>
              <a:rPr lang="en-US" sz="1500" b="1" dirty="0">
                <a:solidFill>
                  <a:srgbClr val="2C4A52"/>
                </a:solidFill>
                <a:latin typeface="Arial" pitchFamily="34" charset="0"/>
                <a:ea typeface="Arial" pitchFamily="34" charset="-122"/>
                <a:cs typeface="Arial" pitchFamily="34" charset="-120"/>
              </a:rPr>
              <a:t>2.</a:t>
            </a:r>
            <a:endParaRPr lang="en-US" sz="1500" dirty="0"/>
          </a:p>
        </p:txBody>
      </p:sp>
      <p:sp>
        <p:nvSpPr>
          <p:cNvPr id="9" name="Text 7"/>
          <p:cNvSpPr txBox="1"/>
          <p:nvPr/>
        </p:nvSpPr>
        <p:spPr>
          <a:xfrm>
            <a:off x="1097280" y="2587752"/>
            <a:ext cx="2377440" cy="457200"/>
          </a:xfrm>
          <a:prstGeom prst="rect">
            <a:avLst/>
          </a:prstGeom>
          <a:noFill/>
          <a:ln/>
        </p:spPr>
        <p:txBody>
          <a:bodyPr wrap="square" lIns="0" tIns="0" rIns="0" bIns="0" rtlCol="0" anchor="t"/>
          <a:lstStyle/>
          <a:p>
            <a:pPr indent="0" marL="0">
              <a:buNone/>
            </a:pPr>
            <a:r>
              <a:rPr lang="en-US" sz="1450" b="1" dirty="0">
                <a:solidFill>
                  <a:srgbClr val="1A1A1A"/>
                </a:solidFill>
                <a:latin typeface="Arial" pitchFamily="34" charset="0"/>
                <a:ea typeface="Arial" pitchFamily="34" charset="-122"/>
                <a:cs typeface="Arial" pitchFamily="34" charset="-120"/>
              </a:rPr>
              <a:t>Injection defense</a:t>
            </a:r>
            <a:endParaRPr lang="en-US" sz="1450" dirty="0"/>
          </a:p>
        </p:txBody>
      </p:sp>
      <p:sp>
        <p:nvSpPr>
          <p:cNvPr id="10" name="Text 8"/>
          <p:cNvSpPr txBox="1"/>
          <p:nvPr/>
        </p:nvSpPr>
        <p:spPr>
          <a:xfrm>
            <a:off x="3566160" y="2587752"/>
            <a:ext cx="7955280" cy="640080"/>
          </a:xfrm>
          <a:prstGeom prst="rect">
            <a:avLst/>
          </a:prstGeom>
          <a:noFill/>
          <a:ln/>
        </p:spPr>
        <p:txBody>
          <a:bodyPr wrap="square" lIns="0" tIns="0" rIns="0" bIns="0" rtlCol="0" anchor="ctr"/>
          <a:lstStyle/>
          <a:p>
            <a:pPr indent="0" marL="0">
              <a:lnSpc>
                <a:spcPct val="118000"/>
              </a:lnSpc>
              <a:buNone/>
            </a:pPr>
            <a:r>
              <a:rPr lang="en-US" sz="1200" dirty="0">
                <a:solidFill>
                  <a:srgbClr val="595959"/>
                </a:solidFill>
                <a:latin typeface="Arial" pitchFamily="34" charset="0"/>
                <a:ea typeface="Arial" pitchFamily="34" charset="-122"/>
                <a:cs typeface="Arial" pitchFamily="34" charset="-120"/>
              </a:rPr>
              <a:t>Suspicious lines are tagged, not deleted, so the red team can prove they were seen and not obeyed. Every call also splits system instructions from untrusted user data, so the model's own trained hierarchy backs this up, not just the wording.</a:t>
            </a:r>
            <a:endParaRPr lang="en-US" sz="1200" dirty="0"/>
          </a:p>
        </p:txBody>
      </p:sp>
      <p:sp>
        <p:nvSpPr>
          <p:cNvPr id="11" name="Shape 9"/>
          <p:cNvSpPr/>
          <p:nvPr/>
        </p:nvSpPr>
        <p:spPr>
          <a:xfrm>
            <a:off x="1097280" y="3410712"/>
            <a:ext cx="10451592" cy="0"/>
          </a:xfrm>
          <a:prstGeom prst="line">
            <a:avLst/>
          </a:prstGeom>
          <a:noFill/>
          <a:ln w="9525">
            <a:solidFill>
              <a:srgbClr val="D9D9D9"/>
            </a:solidFill>
            <a:prstDash val="solid"/>
          </a:ln>
        </p:spPr>
      </p:sp>
      <p:sp>
        <p:nvSpPr>
          <p:cNvPr id="12" name="Text 10"/>
          <p:cNvSpPr txBox="1"/>
          <p:nvPr/>
        </p:nvSpPr>
        <p:spPr>
          <a:xfrm>
            <a:off x="640080" y="3547872"/>
            <a:ext cx="411480" cy="457200"/>
          </a:xfrm>
          <a:prstGeom prst="rect">
            <a:avLst/>
          </a:prstGeom>
          <a:noFill/>
          <a:ln/>
        </p:spPr>
        <p:txBody>
          <a:bodyPr wrap="square" lIns="0" tIns="0" rIns="0" bIns="0" rtlCol="0" anchor="ctr"/>
          <a:lstStyle/>
          <a:p>
            <a:pPr indent="0" marL="0">
              <a:buNone/>
            </a:pPr>
            <a:r>
              <a:rPr lang="en-US" sz="1500" b="1" dirty="0">
                <a:solidFill>
                  <a:srgbClr val="2C4A52"/>
                </a:solidFill>
                <a:latin typeface="Arial" pitchFamily="34" charset="0"/>
                <a:ea typeface="Arial" pitchFamily="34" charset="-122"/>
                <a:cs typeface="Arial" pitchFamily="34" charset="-120"/>
              </a:rPr>
              <a:t>3.</a:t>
            </a:r>
            <a:endParaRPr lang="en-US" sz="1500" dirty="0"/>
          </a:p>
        </p:txBody>
      </p:sp>
      <p:sp>
        <p:nvSpPr>
          <p:cNvPr id="13" name="Text 11"/>
          <p:cNvSpPr txBox="1"/>
          <p:nvPr/>
        </p:nvSpPr>
        <p:spPr>
          <a:xfrm>
            <a:off x="1097280" y="3547872"/>
            <a:ext cx="2377440" cy="457200"/>
          </a:xfrm>
          <a:prstGeom prst="rect">
            <a:avLst/>
          </a:prstGeom>
          <a:noFill/>
          <a:ln/>
        </p:spPr>
        <p:txBody>
          <a:bodyPr wrap="square" lIns="0" tIns="0" rIns="0" bIns="0" rtlCol="0" anchor="t"/>
          <a:lstStyle/>
          <a:p>
            <a:pPr indent="0" marL="0">
              <a:buNone/>
            </a:pPr>
            <a:r>
              <a:rPr lang="en-US" sz="1450" b="1" dirty="0">
                <a:solidFill>
                  <a:srgbClr val="1A1A1A"/>
                </a:solidFill>
                <a:latin typeface="Arial" pitchFamily="34" charset="0"/>
                <a:ea typeface="Arial" pitchFamily="34" charset="-122"/>
                <a:cs typeface="Arial" pitchFamily="34" charset="-120"/>
              </a:rPr>
              <a:t>The gateway</a:t>
            </a:r>
            <a:endParaRPr lang="en-US" sz="1450" dirty="0"/>
          </a:p>
        </p:txBody>
      </p:sp>
      <p:sp>
        <p:nvSpPr>
          <p:cNvPr id="14" name="Text 12"/>
          <p:cNvSpPr txBox="1"/>
          <p:nvPr/>
        </p:nvSpPr>
        <p:spPr>
          <a:xfrm>
            <a:off x="3566160" y="3547872"/>
            <a:ext cx="7955280" cy="640080"/>
          </a:xfrm>
          <a:prstGeom prst="rect">
            <a:avLst/>
          </a:prstGeom>
          <a:noFill/>
          <a:ln/>
        </p:spPr>
        <p:txBody>
          <a:bodyPr wrap="square" lIns="0" tIns="0" rIns="0" bIns="0" rtlCol="0" anchor="ctr"/>
          <a:lstStyle/>
          <a:p>
            <a:pPr indent="0" marL="0">
              <a:lnSpc>
                <a:spcPct val="118000"/>
              </a:lnSpc>
              <a:buNone/>
            </a:pPr>
            <a:r>
              <a:rPr lang="en-US" sz="1200" dirty="0">
                <a:solidFill>
                  <a:srgbClr val="595959"/>
                </a:solidFill>
                <a:latin typeface="Arial" pitchFamily="34" charset="0"/>
                <a:ea typeface="Arial" pitchFamily="34" charset="-122"/>
                <a:cs typeface="Arial" pitchFamily="34" charset="-120"/>
              </a:rPr>
              <a:t>Every single model call, all five roles: privacy check → budget check → model routing → retry → trace log. No exceptions.</a:t>
            </a:r>
            <a:endParaRPr lang="en-US" sz="1200" dirty="0"/>
          </a:p>
        </p:txBody>
      </p:sp>
      <p:sp>
        <p:nvSpPr>
          <p:cNvPr id="15" name="Shape 13"/>
          <p:cNvSpPr/>
          <p:nvPr/>
        </p:nvSpPr>
        <p:spPr>
          <a:xfrm>
            <a:off x="1097280" y="4370832"/>
            <a:ext cx="10451592" cy="0"/>
          </a:xfrm>
          <a:prstGeom prst="line">
            <a:avLst/>
          </a:prstGeom>
          <a:noFill/>
          <a:ln w="9525">
            <a:solidFill>
              <a:srgbClr val="D9D9D9"/>
            </a:solidFill>
            <a:prstDash val="solid"/>
          </a:ln>
        </p:spPr>
      </p:sp>
      <p:sp>
        <p:nvSpPr>
          <p:cNvPr id="16" name="Text 14"/>
          <p:cNvSpPr txBox="1"/>
          <p:nvPr/>
        </p:nvSpPr>
        <p:spPr>
          <a:xfrm>
            <a:off x="640080" y="4507992"/>
            <a:ext cx="411480" cy="457200"/>
          </a:xfrm>
          <a:prstGeom prst="rect">
            <a:avLst/>
          </a:prstGeom>
          <a:noFill/>
          <a:ln/>
        </p:spPr>
        <p:txBody>
          <a:bodyPr wrap="square" lIns="0" tIns="0" rIns="0" bIns="0" rtlCol="0" anchor="ctr"/>
          <a:lstStyle/>
          <a:p>
            <a:pPr indent="0" marL="0">
              <a:buNone/>
            </a:pPr>
            <a:r>
              <a:rPr lang="en-US" sz="1500" b="1" dirty="0">
                <a:solidFill>
                  <a:srgbClr val="2C4A52"/>
                </a:solidFill>
                <a:latin typeface="Arial" pitchFamily="34" charset="0"/>
                <a:ea typeface="Arial" pitchFamily="34" charset="-122"/>
                <a:cs typeface="Arial" pitchFamily="34" charset="-120"/>
              </a:rPr>
              <a:t>4.</a:t>
            </a:r>
            <a:endParaRPr lang="en-US" sz="1500" dirty="0"/>
          </a:p>
        </p:txBody>
      </p:sp>
      <p:sp>
        <p:nvSpPr>
          <p:cNvPr id="17" name="Text 15"/>
          <p:cNvSpPr txBox="1"/>
          <p:nvPr/>
        </p:nvSpPr>
        <p:spPr>
          <a:xfrm>
            <a:off x="1097280" y="4507992"/>
            <a:ext cx="2377440" cy="457200"/>
          </a:xfrm>
          <a:prstGeom prst="rect">
            <a:avLst/>
          </a:prstGeom>
          <a:noFill/>
          <a:ln/>
        </p:spPr>
        <p:txBody>
          <a:bodyPr wrap="square" lIns="0" tIns="0" rIns="0" bIns="0" rtlCol="0" anchor="t"/>
          <a:lstStyle/>
          <a:p>
            <a:pPr indent="0" marL="0">
              <a:buNone/>
            </a:pPr>
            <a:r>
              <a:rPr lang="en-US" sz="1450" b="1" dirty="0">
                <a:solidFill>
                  <a:srgbClr val="1A1A1A"/>
                </a:solidFill>
                <a:latin typeface="Arial" pitchFamily="34" charset="0"/>
                <a:ea typeface="Arial" pitchFamily="34" charset="-122"/>
                <a:cs typeface="Arial" pitchFamily="34" charset="-120"/>
              </a:rPr>
              <a:t>The human gate</a:t>
            </a:r>
            <a:endParaRPr lang="en-US" sz="1450" dirty="0"/>
          </a:p>
        </p:txBody>
      </p:sp>
      <p:sp>
        <p:nvSpPr>
          <p:cNvPr id="18" name="Text 16"/>
          <p:cNvSpPr txBox="1"/>
          <p:nvPr/>
        </p:nvSpPr>
        <p:spPr>
          <a:xfrm>
            <a:off x="3566160" y="4507992"/>
            <a:ext cx="7955280" cy="640080"/>
          </a:xfrm>
          <a:prstGeom prst="rect">
            <a:avLst/>
          </a:prstGeom>
          <a:noFill/>
          <a:ln/>
        </p:spPr>
        <p:txBody>
          <a:bodyPr wrap="square" lIns="0" tIns="0" rIns="0" bIns="0" rtlCol="0" anchor="ctr"/>
          <a:lstStyle/>
          <a:p>
            <a:pPr indent="0" marL="0">
              <a:lnSpc>
                <a:spcPct val="118000"/>
              </a:lnSpc>
              <a:buNone/>
            </a:pPr>
            <a:r>
              <a:rPr lang="en-US" sz="1200" dirty="0">
                <a:solidFill>
                  <a:srgbClr val="595959"/>
                </a:solidFill>
                <a:latin typeface="Arial" pitchFamily="34" charset="0"/>
                <a:ea typeface="Arial" pitchFamily="34" charset="-122"/>
                <a:cs typeface="Arial" pitchFamily="34" charset="-120"/>
              </a:rPr>
              <a:t>Always the final word. The approval is bound to a hash of the exact report the human actually read.</a:t>
            </a:r>
            <a:endParaRPr lang="en-US" sz="1200" dirty="0"/>
          </a:p>
        </p:txBody>
      </p:sp>
      <p:sp>
        <p:nvSpPr>
          <p:cNvPr id="19" name="Shape 17"/>
          <p:cNvSpPr/>
          <p:nvPr/>
        </p:nvSpPr>
        <p:spPr>
          <a:xfrm>
            <a:off x="640080" y="5605272"/>
            <a:ext cx="10908792" cy="0"/>
          </a:xfrm>
          <a:prstGeom prst="line">
            <a:avLst/>
          </a:prstGeom>
          <a:noFill/>
          <a:ln w="9525">
            <a:solidFill>
              <a:srgbClr val="D9D9D9"/>
            </a:solidFill>
            <a:prstDash val="solid"/>
          </a:ln>
        </p:spPr>
      </p:sp>
      <p:sp>
        <p:nvSpPr>
          <p:cNvPr id="20" name="Text 18"/>
          <p:cNvSpPr txBox="1"/>
          <p:nvPr/>
        </p:nvSpPr>
        <p:spPr>
          <a:xfrm>
            <a:off x="640080" y="5788152"/>
            <a:ext cx="10881360" cy="502920"/>
          </a:xfrm>
          <a:prstGeom prst="rect">
            <a:avLst/>
          </a:prstGeom>
          <a:noFill/>
          <a:ln/>
        </p:spPr>
        <p:txBody>
          <a:bodyPr wrap="square" lIns="0" tIns="0" rIns="0" bIns="0" rtlCol="0" anchor="ctr"/>
          <a:lstStyle/>
          <a:p>
            <a:pPr indent="0" marL="0">
              <a:lnSpc>
                <a:spcPct val="120000"/>
              </a:lnSpc>
              <a:buNone/>
            </a:pPr>
            <a:r>
              <a:rPr lang="en-US" sz="1300" b="1" dirty="0">
                <a:solidFill>
                  <a:srgbClr val="2C4A52"/>
                </a:solidFill>
                <a:latin typeface="Arial" pitchFamily="34" charset="0"/>
                <a:ea typeface="Arial" pitchFamily="34" charset="-122"/>
                <a:cs typeface="Arial" pitchFamily="34" charset="-120"/>
              </a:rPr>
              <a:t>Proven live, not just designed:  </a:t>
            </a:r>
            <a:pPr indent="0" marL="0">
              <a:lnSpc>
                <a:spcPct val="120000"/>
              </a:lnSpc>
              <a:buNone/>
            </a:pPr>
            <a:r>
              <a:rPr lang="en-US" sz="1300" dirty="0">
                <a:solidFill>
                  <a:srgbClr val="1A1A1A"/>
                </a:solidFill>
                <a:latin typeface="Arial" pitchFamily="34" charset="0"/>
                <a:ea typeface="Arial" pitchFamily="34" charset="-122"/>
                <a:cs typeface="Arial" pitchFamily="34" charset="-120"/>
              </a:rPr>
              <a:t>12 real claims cited a flagged line in the sample case. Verdict: no influence — correctly telling citation apart from compromise.</a:t>
            </a:r>
            <a:endParaRPr lang="en-US" sz="1300" dirty="0"/>
          </a:p>
        </p:txBody>
      </p:sp>
      <p:sp>
        <p:nvSpPr>
          <p:cNvPr id="21" name="Text 19"/>
          <p:cNvSpPr txBox="1"/>
          <p:nvPr/>
        </p:nvSpPr>
        <p:spPr>
          <a:xfrm>
            <a:off x="640080" y="6492240"/>
            <a:ext cx="86868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The LLM Council — decision support only, requires human clinical sign-off</a:t>
            </a:r>
            <a:endParaRPr lang="en-US" sz="900" dirty="0"/>
          </a:p>
        </p:txBody>
      </p:sp>
      <p:sp>
        <p:nvSpPr>
          <p:cNvPr id="22" name="Text 20"/>
          <p:cNvSpPr txBox="1"/>
          <p:nvPr/>
        </p:nvSpPr>
        <p:spPr>
          <a:xfrm>
            <a:off x="11612880" y="6492240"/>
            <a:ext cx="45720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100" b="1" spc="150" kern="0" dirty="0">
                <a:solidFill>
                  <a:srgbClr val="8C8C8C"/>
                </a:solidFill>
                <a:latin typeface="Arial" pitchFamily="34" charset="0"/>
                <a:ea typeface="Arial" pitchFamily="34" charset="-122"/>
                <a:cs typeface="Arial" pitchFamily="34" charset="-120"/>
              </a:rPr>
              <a:t>DECISIONS &amp; TRADE-OFFS</a:t>
            </a:r>
            <a:endParaRPr lang="en-US" sz="1100" dirty="0"/>
          </a:p>
        </p:txBody>
      </p:sp>
      <p:sp>
        <p:nvSpPr>
          <p:cNvPr id="3" name="Text 1"/>
          <p:cNvSpPr txBox="1"/>
          <p:nvPr/>
        </p:nvSpPr>
        <p:spPr>
          <a:xfrm>
            <a:off x="640080" y="777240"/>
            <a:ext cx="10881360" cy="82296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Three decisions worth defending</a:t>
            </a:r>
            <a:endParaRPr lang="en-US" sz="3000" dirty="0"/>
          </a:p>
        </p:txBody>
      </p:sp>
      <p:sp>
        <p:nvSpPr>
          <p:cNvPr id="4" name="Text 2"/>
          <p:cNvSpPr txBox="1"/>
          <p:nvPr/>
        </p:nvSpPr>
        <p:spPr>
          <a:xfrm>
            <a:off x="640080" y="1828800"/>
            <a:ext cx="411480" cy="365760"/>
          </a:xfrm>
          <a:prstGeom prst="rect">
            <a:avLst/>
          </a:prstGeom>
          <a:noFill/>
          <a:ln/>
        </p:spPr>
        <p:txBody>
          <a:bodyPr wrap="square" lIns="0" tIns="0" rIns="0" bIns="0" rtlCol="0" anchor="ctr"/>
          <a:lstStyle/>
          <a:p>
            <a:pPr indent="0" marL="0">
              <a:buNone/>
            </a:pPr>
            <a:r>
              <a:rPr lang="en-US" sz="1600" b="1" dirty="0">
                <a:solidFill>
                  <a:srgbClr val="2C4A52"/>
                </a:solidFill>
                <a:latin typeface="Arial" pitchFamily="34" charset="0"/>
                <a:ea typeface="Arial" pitchFamily="34" charset="-122"/>
                <a:cs typeface="Arial" pitchFamily="34" charset="-120"/>
              </a:rPr>
              <a:t>1.</a:t>
            </a:r>
            <a:endParaRPr lang="en-US" sz="1600" dirty="0"/>
          </a:p>
        </p:txBody>
      </p:sp>
      <p:sp>
        <p:nvSpPr>
          <p:cNvPr id="5" name="Text 3"/>
          <p:cNvSpPr txBox="1"/>
          <p:nvPr/>
        </p:nvSpPr>
        <p:spPr>
          <a:xfrm>
            <a:off x="1097280" y="1828800"/>
            <a:ext cx="10241280" cy="36576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Hand-rolled orchestrator, not a framework</a:t>
            </a:r>
            <a:endParaRPr lang="en-US" sz="1600" dirty="0"/>
          </a:p>
        </p:txBody>
      </p:sp>
      <p:sp>
        <p:nvSpPr>
          <p:cNvPr id="6" name="Text 4"/>
          <p:cNvSpPr txBox="1"/>
          <p:nvPr/>
        </p:nvSpPr>
        <p:spPr>
          <a:xfrm>
            <a:off x="1097280" y="2212848"/>
            <a:ext cx="10241280" cy="502920"/>
          </a:xfrm>
          <a:prstGeom prst="rect">
            <a:avLst/>
          </a:prstGeom>
          <a:noFill/>
          <a:ln/>
        </p:spPr>
        <p:txBody>
          <a:bodyPr wrap="square" lIns="0" tIns="0" rIns="0" bIns="0" rtlCol="0" anchor="ctr"/>
          <a:lstStyle/>
          <a:p>
            <a:pPr indent="0" marL="0">
              <a:lnSpc>
                <a:spcPct val="120000"/>
              </a:lnSpc>
              <a:buNone/>
            </a:pPr>
            <a:r>
              <a:rPr lang="en-US" sz="1350" dirty="0">
                <a:solidFill>
                  <a:srgbClr val="595959"/>
                </a:solidFill>
                <a:latin typeface="Arial" pitchFamily="34" charset="0"/>
                <a:ea typeface="Arial" pitchFamily="34" charset="-122"/>
                <a:cs typeface="Arial" pitchFamily="34" charset="-120"/>
              </a:rPr>
              <a:t>Budgets and the two-round limit are enforced in code I can point to on screen — not trusted to a framework's internals.</a:t>
            </a:r>
            <a:endParaRPr lang="en-US" sz="1350" dirty="0"/>
          </a:p>
        </p:txBody>
      </p:sp>
      <p:sp>
        <p:nvSpPr>
          <p:cNvPr id="7" name="Shape 5"/>
          <p:cNvSpPr/>
          <p:nvPr/>
        </p:nvSpPr>
        <p:spPr>
          <a:xfrm>
            <a:off x="1097280" y="2880360"/>
            <a:ext cx="10451592" cy="0"/>
          </a:xfrm>
          <a:prstGeom prst="line">
            <a:avLst/>
          </a:prstGeom>
          <a:noFill/>
          <a:ln w="9525">
            <a:solidFill>
              <a:srgbClr val="D9D9D9"/>
            </a:solidFill>
            <a:prstDash val="solid"/>
          </a:ln>
        </p:spPr>
      </p:sp>
      <p:sp>
        <p:nvSpPr>
          <p:cNvPr id="8" name="Text 6"/>
          <p:cNvSpPr txBox="1"/>
          <p:nvPr/>
        </p:nvSpPr>
        <p:spPr>
          <a:xfrm>
            <a:off x="640080" y="3127248"/>
            <a:ext cx="411480" cy="365760"/>
          </a:xfrm>
          <a:prstGeom prst="rect">
            <a:avLst/>
          </a:prstGeom>
          <a:noFill/>
          <a:ln/>
        </p:spPr>
        <p:txBody>
          <a:bodyPr wrap="square" lIns="0" tIns="0" rIns="0" bIns="0" rtlCol="0" anchor="ctr"/>
          <a:lstStyle/>
          <a:p>
            <a:pPr indent="0" marL="0">
              <a:buNone/>
            </a:pPr>
            <a:r>
              <a:rPr lang="en-US" sz="1600" b="1" dirty="0">
                <a:solidFill>
                  <a:srgbClr val="2C4A52"/>
                </a:solidFill>
                <a:latin typeface="Arial" pitchFamily="34" charset="0"/>
                <a:ea typeface="Arial" pitchFamily="34" charset="-122"/>
                <a:cs typeface="Arial" pitchFamily="34" charset="-120"/>
              </a:rPr>
              <a:t>2.</a:t>
            </a:r>
            <a:endParaRPr lang="en-US" sz="1600" dirty="0"/>
          </a:p>
        </p:txBody>
      </p:sp>
      <p:sp>
        <p:nvSpPr>
          <p:cNvPr id="9" name="Text 7"/>
          <p:cNvSpPr txBox="1"/>
          <p:nvPr/>
        </p:nvSpPr>
        <p:spPr>
          <a:xfrm>
            <a:off x="1097280" y="3127248"/>
            <a:ext cx="10241280" cy="36576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Markdown-only case input, PDF converted by hand</a:t>
            </a:r>
            <a:endParaRPr lang="en-US" sz="1600" dirty="0"/>
          </a:p>
        </p:txBody>
      </p:sp>
      <p:sp>
        <p:nvSpPr>
          <p:cNvPr id="10" name="Text 8"/>
          <p:cNvSpPr txBox="1"/>
          <p:nvPr/>
        </p:nvSpPr>
        <p:spPr>
          <a:xfrm>
            <a:off x="1097280" y="3511296"/>
            <a:ext cx="10241280" cy="502920"/>
          </a:xfrm>
          <a:prstGeom prst="rect">
            <a:avLst/>
          </a:prstGeom>
          <a:noFill/>
          <a:ln/>
        </p:spPr>
        <p:txBody>
          <a:bodyPr wrap="square" lIns="0" tIns="0" rIns="0" bIns="0" rtlCol="0" anchor="ctr"/>
          <a:lstStyle/>
          <a:p>
            <a:pPr indent="0" marL="0">
              <a:lnSpc>
                <a:spcPct val="120000"/>
              </a:lnSpc>
              <a:buNone/>
            </a:pPr>
            <a:r>
              <a:rPr lang="en-US" sz="1350" dirty="0">
                <a:solidFill>
                  <a:srgbClr val="595959"/>
                </a:solidFill>
                <a:latin typeface="Arial" pitchFamily="34" charset="0"/>
                <a:ea typeface="Arial" pitchFamily="34" charset="-122"/>
                <a:cs typeface="Arial" pitchFamily="34" charset="-120"/>
              </a:rPr>
              <a:t>An automatic PDF step would touch raw input before the scanner does. Markdown-only closes that attack surface entirely.</a:t>
            </a:r>
            <a:endParaRPr lang="en-US" sz="1350" dirty="0"/>
          </a:p>
        </p:txBody>
      </p:sp>
      <p:sp>
        <p:nvSpPr>
          <p:cNvPr id="11" name="Shape 9"/>
          <p:cNvSpPr/>
          <p:nvPr/>
        </p:nvSpPr>
        <p:spPr>
          <a:xfrm>
            <a:off x="1097280" y="4178808"/>
            <a:ext cx="10451592" cy="0"/>
          </a:xfrm>
          <a:prstGeom prst="line">
            <a:avLst/>
          </a:prstGeom>
          <a:noFill/>
          <a:ln w="9525">
            <a:solidFill>
              <a:srgbClr val="D9D9D9"/>
            </a:solidFill>
            <a:prstDash val="solid"/>
          </a:ln>
        </p:spPr>
      </p:sp>
      <p:sp>
        <p:nvSpPr>
          <p:cNvPr id="12" name="Text 10"/>
          <p:cNvSpPr txBox="1"/>
          <p:nvPr/>
        </p:nvSpPr>
        <p:spPr>
          <a:xfrm>
            <a:off x="640080" y="4425696"/>
            <a:ext cx="411480" cy="365760"/>
          </a:xfrm>
          <a:prstGeom prst="rect">
            <a:avLst/>
          </a:prstGeom>
          <a:noFill/>
          <a:ln/>
        </p:spPr>
        <p:txBody>
          <a:bodyPr wrap="square" lIns="0" tIns="0" rIns="0" bIns="0" rtlCol="0" anchor="ctr"/>
          <a:lstStyle/>
          <a:p>
            <a:pPr indent="0" marL="0">
              <a:buNone/>
            </a:pPr>
            <a:r>
              <a:rPr lang="en-US" sz="1600" b="1" dirty="0">
                <a:solidFill>
                  <a:srgbClr val="2C4A52"/>
                </a:solidFill>
                <a:latin typeface="Arial" pitchFamily="34" charset="0"/>
                <a:ea typeface="Arial" pitchFamily="34" charset="-122"/>
                <a:cs typeface="Arial" pitchFamily="34" charset="-120"/>
              </a:rPr>
              <a:t>3.</a:t>
            </a:r>
            <a:endParaRPr lang="en-US" sz="1600" dirty="0"/>
          </a:p>
        </p:txBody>
      </p:sp>
      <p:sp>
        <p:nvSpPr>
          <p:cNvPr id="13" name="Text 11"/>
          <p:cNvSpPr txBox="1"/>
          <p:nvPr/>
        </p:nvSpPr>
        <p:spPr>
          <a:xfrm>
            <a:off x="1097280" y="4425696"/>
            <a:ext cx="10241280" cy="36576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Judges on a separate model from the specialists</a:t>
            </a:r>
            <a:endParaRPr lang="en-US" sz="1600" dirty="0"/>
          </a:p>
        </p:txBody>
      </p:sp>
      <p:sp>
        <p:nvSpPr>
          <p:cNvPr id="14" name="Text 12"/>
          <p:cNvSpPr txBox="1"/>
          <p:nvPr/>
        </p:nvSpPr>
        <p:spPr>
          <a:xfrm>
            <a:off x="1097280" y="4809744"/>
            <a:ext cx="10241280" cy="502920"/>
          </a:xfrm>
          <a:prstGeom prst="rect">
            <a:avLst/>
          </a:prstGeom>
          <a:noFill/>
          <a:ln/>
        </p:spPr>
        <p:txBody>
          <a:bodyPr wrap="square" lIns="0" tIns="0" rIns="0" bIns="0" rtlCol="0" anchor="ctr"/>
          <a:lstStyle/>
          <a:p>
            <a:pPr indent="0" marL="0">
              <a:lnSpc>
                <a:spcPct val="120000"/>
              </a:lnSpc>
              <a:buNone/>
            </a:pPr>
            <a:r>
              <a:rPr lang="en-US" sz="1350" dirty="0">
                <a:solidFill>
                  <a:srgbClr val="595959"/>
                </a:solidFill>
                <a:latin typeface="Arial" pitchFamily="34" charset="0"/>
                <a:ea typeface="Arial" pitchFamily="34" charset="-122"/>
                <a:cs typeface="Arial" pitchFamily="34" charset="-120"/>
              </a:rPr>
              <a:t>Independent scoring. A judge sharing the specialists' model shares its blind spots too.</a:t>
            </a:r>
            <a:endParaRPr lang="en-US" sz="1350" dirty="0"/>
          </a:p>
        </p:txBody>
      </p:sp>
      <p:sp>
        <p:nvSpPr>
          <p:cNvPr id="15" name="Text 13"/>
          <p:cNvSpPr txBox="1"/>
          <p:nvPr/>
        </p:nvSpPr>
        <p:spPr>
          <a:xfrm>
            <a:off x="640080" y="6492240"/>
            <a:ext cx="86868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The LLM Council — decision support only, requires human clinical sign-off</a:t>
            </a:r>
            <a:endParaRPr lang="en-US" sz="900" dirty="0"/>
          </a:p>
        </p:txBody>
      </p:sp>
      <p:sp>
        <p:nvSpPr>
          <p:cNvPr id="16" name="Text 14"/>
          <p:cNvSpPr txBox="1"/>
          <p:nvPr/>
        </p:nvSpPr>
        <p:spPr>
          <a:xfrm>
            <a:off x="11612880" y="6492240"/>
            <a:ext cx="45720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100" b="1" spc="150" kern="0" dirty="0">
                <a:solidFill>
                  <a:srgbClr val="8C8C8C"/>
                </a:solidFill>
                <a:latin typeface="Arial" pitchFamily="34" charset="0"/>
                <a:ea typeface="Arial" pitchFamily="34" charset="-122"/>
                <a:cs typeface="Arial" pitchFamily="34" charset="-120"/>
              </a:rPr>
              <a:t>AI-ASSISTED DEVELOPMENT</a:t>
            </a:r>
            <a:endParaRPr lang="en-US" sz="1100" dirty="0"/>
          </a:p>
        </p:txBody>
      </p:sp>
      <p:sp>
        <p:nvSpPr>
          <p:cNvPr id="3" name="Text 1"/>
          <p:cNvSpPr txBox="1"/>
          <p:nvPr/>
        </p:nvSpPr>
        <p:spPr>
          <a:xfrm>
            <a:off x="640080" y="777240"/>
            <a:ext cx="10881360" cy="8229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Where the tools helped — and where they had to be stopped</a:t>
            </a:r>
            <a:endParaRPr lang="en-US" sz="2600" dirty="0"/>
          </a:p>
        </p:txBody>
      </p:sp>
      <p:sp>
        <p:nvSpPr>
          <p:cNvPr id="4" name="Text 2"/>
          <p:cNvSpPr txBox="1"/>
          <p:nvPr/>
        </p:nvSpPr>
        <p:spPr>
          <a:xfrm>
            <a:off x="640080" y="1874520"/>
            <a:ext cx="5120640" cy="274320"/>
          </a:xfrm>
          <a:prstGeom prst="rect">
            <a:avLst/>
          </a:prstGeom>
          <a:noFill/>
          <a:ln/>
        </p:spPr>
        <p:txBody>
          <a:bodyPr wrap="square" lIns="0" tIns="0" rIns="0" bIns="0" rtlCol="0" anchor="ctr"/>
          <a:lstStyle/>
          <a:p>
            <a:pPr indent="0" marL="0">
              <a:buNone/>
            </a:pPr>
            <a:r>
              <a:rPr lang="en-US" sz="1150" b="1" spc="100" kern="0" dirty="0">
                <a:solidFill>
                  <a:srgbClr val="8C8C8C"/>
                </a:solidFill>
                <a:latin typeface="Arial" pitchFamily="34" charset="0"/>
                <a:ea typeface="Arial" pitchFamily="34" charset="-122"/>
                <a:cs typeface="Arial" pitchFamily="34" charset="-120"/>
              </a:rPr>
              <a:t>THE RULES</a:t>
            </a:r>
            <a:endParaRPr lang="en-US" sz="1150" dirty="0"/>
          </a:p>
        </p:txBody>
      </p:sp>
      <p:sp>
        <p:nvSpPr>
          <p:cNvPr id="5" name="Text 3"/>
          <p:cNvSpPr txBox="1"/>
          <p:nvPr/>
        </p:nvSpPr>
        <p:spPr>
          <a:xfrm>
            <a:off x="640080" y="2240280"/>
            <a:ext cx="5120640" cy="3383280"/>
          </a:xfrm>
          <a:prstGeom prst="rect">
            <a:avLst/>
          </a:prstGeom>
          <a:noFill/>
          <a:ln/>
        </p:spPr>
        <p:txBody>
          <a:bodyPr wrap="square" lIns="0" tIns="0" rIns="0" bIns="0" rtlCol="0" anchor="ctr"/>
          <a:lstStyle/>
          <a:p>
            <a:pPr marL="342900" indent="-342900">
              <a:lnSpc>
                <a:spcPct val="125000"/>
              </a:lnSpc>
              <a:spcAft>
                <a:spcPts val="1400"/>
              </a:spcAft>
              <a:buSzPct val="100000"/>
              <a:buChar char="•"/>
            </a:pPr>
            <a:r>
              <a:rPr lang="en-US" sz="1300" b="1" dirty="0">
                <a:solidFill>
                  <a:srgbClr val="1A1A1A"/>
                </a:solidFill>
                <a:latin typeface="Arial" pitchFamily="34" charset="0"/>
                <a:ea typeface="Arial" pitchFamily="34" charset="-122"/>
                <a:cs typeface="Arial" pitchFamily="34" charset="-120"/>
              </a:rPr>
              <a:t>Design, prompts, and the judging rubric are human-authored and human-owned.</a:t>
            </a:r>
            <a:endParaRPr lang="en-US" sz="1300" dirty="0"/>
          </a:p>
          <a:p>
            <a:pPr marL="342900" indent="-342900">
              <a:lnSpc>
                <a:spcPct val="125000"/>
              </a:lnSpc>
              <a:spcAft>
                <a:spcPts val="1400"/>
              </a:spcAft>
              <a:buSzPct val="100000"/>
              <a:buChar char="•"/>
            </a:pPr>
            <a:r>
              <a:rPr lang="en-US" sz="1300" dirty="0">
                <a:solidFill>
                  <a:srgbClr val="1A1A1A"/>
                </a:solidFill>
                <a:latin typeface="Arial" pitchFamily="34" charset="0"/>
                <a:ea typeface="Arial" pitchFamily="34" charset="-122"/>
                <a:cs typeface="Arial" pitchFamily="34" charset="-120"/>
              </a:rPr>
              <a:t>The coding agent is explicitly blocked from editing any of them.</a:t>
            </a:r>
            <a:endParaRPr lang="en-US" sz="1300" dirty="0"/>
          </a:p>
          <a:p>
            <a:pPr marL="342900" indent="-342900">
              <a:lnSpc>
                <a:spcPct val="125000"/>
              </a:lnSpc>
              <a:spcAft>
                <a:spcPts val="1400"/>
              </a:spcAft>
              <a:buSzPct val="100000"/>
              <a:buChar char="•"/>
            </a:pPr>
            <a:r>
              <a:rPr lang="en-US" sz="1300" dirty="0">
                <a:solidFill>
                  <a:srgbClr val="1A1A1A"/>
                </a:solidFill>
                <a:latin typeface="Arial" pitchFamily="34" charset="0"/>
                <a:ea typeface="Arial" pitchFamily="34" charset="-122"/>
                <a:cs typeface="Arial" pitchFamily="34" charset="-120"/>
              </a:rPr>
              <a:t>“The docs win” — a real contract gap stops the agent. It asks; it doesn't guess.</a:t>
            </a:r>
            <a:endParaRPr lang="en-US" sz="1300" dirty="0"/>
          </a:p>
          <a:p>
            <a:pPr marL="342900" indent="-342900">
              <a:lnSpc>
                <a:spcPct val="125000"/>
              </a:lnSpc>
              <a:spcAft>
                <a:spcPts val="1400"/>
              </a:spcAft>
              <a:buSzPct val="100000"/>
              <a:buChar char="•"/>
            </a:pPr>
            <a:r>
              <a:rPr lang="en-US" sz="1300" dirty="0">
                <a:solidFill>
                  <a:srgbClr val="1A1A1A"/>
                </a:solidFill>
                <a:latin typeface="Arial" pitchFamily="34" charset="0"/>
                <a:ea typeface="Arial" pitchFamily="34" charset="-122"/>
                <a:cs typeface="Arial" pitchFamily="34" charset="-120"/>
              </a:rPr>
              <a:t>Every task ends with a mutation audit: break the rule on purpose, confirm a test catches it.</a:t>
            </a:r>
            <a:endParaRPr lang="en-US" sz="1300" dirty="0"/>
          </a:p>
        </p:txBody>
      </p:sp>
      <p:sp>
        <p:nvSpPr>
          <p:cNvPr id="6" name="Shape 4"/>
          <p:cNvSpPr/>
          <p:nvPr/>
        </p:nvSpPr>
        <p:spPr>
          <a:xfrm>
            <a:off x="6080760" y="1874520"/>
            <a:ext cx="0" cy="4023360"/>
          </a:xfrm>
          <a:prstGeom prst="line">
            <a:avLst/>
          </a:prstGeom>
          <a:noFill/>
          <a:ln w="9525">
            <a:solidFill>
              <a:srgbClr val="D9D9D9"/>
            </a:solidFill>
            <a:prstDash val="solid"/>
          </a:ln>
        </p:spPr>
      </p:sp>
      <p:sp>
        <p:nvSpPr>
          <p:cNvPr id="7" name="Text 5"/>
          <p:cNvSpPr txBox="1"/>
          <p:nvPr/>
        </p:nvSpPr>
        <p:spPr>
          <a:xfrm>
            <a:off x="6492240" y="1874520"/>
            <a:ext cx="5029200" cy="274320"/>
          </a:xfrm>
          <a:prstGeom prst="rect">
            <a:avLst/>
          </a:prstGeom>
          <a:noFill/>
          <a:ln/>
        </p:spPr>
        <p:txBody>
          <a:bodyPr wrap="square" lIns="0" tIns="0" rIns="0" bIns="0" rtlCol="0" anchor="ctr"/>
          <a:lstStyle/>
          <a:p>
            <a:pPr indent="0" marL="0">
              <a:buNone/>
            </a:pPr>
            <a:r>
              <a:rPr lang="en-US" sz="1150" b="1" spc="100" kern="0" dirty="0">
                <a:solidFill>
                  <a:srgbClr val="8C8C8C"/>
                </a:solidFill>
                <a:latin typeface="Arial" pitchFamily="34" charset="0"/>
                <a:ea typeface="Arial" pitchFamily="34" charset="-122"/>
                <a:cs typeface="Arial" pitchFamily="34" charset="-120"/>
              </a:rPr>
              <a:t>WHAT IT ACTUALLY CAUGHT</a:t>
            </a:r>
            <a:endParaRPr lang="en-US" sz="1150" dirty="0"/>
          </a:p>
        </p:txBody>
      </p:sp>
      <p:sp>
        <p:nvSpPr>
          <p:cNvPr id="8" name="Text 6"/>
          <p:cNvSpPr txBox="1"/>
          <p:nvPr/>
        </p:nvSpPr>
        <p:spPr>
          <a:xfrm>
            <a:off x="6492240" y="2240280"/>
            <a:ext cx="5029200" cy="3383280"/>
          </a:xfrm>
          <a:prstGeom prst="rect">
            <a:avLst/>
          </a:prstGeom>
          <a:noFill/>
          <a:ln/>
        </p:spPr>
        <p:txBody>
          <a:bodyPr wrap="square" lIns="0" tIns="0" rIns="0" bIns="0" rtlCol="0" anchor="ctr"/>
          <a:lstStyle/>
          <a:p>
            <a:pPr marL="342900" indent="-342900">
              <a:lnSpc>
                <a:spcPct val="130000"/>
              </a:lnSpc>
              <a:spcAft>
                <a:spcPts val="1800"/>
              </a:spcAft>
              <a:buSzPct val="100000"/>
              <a:buChar char="•"/>
            </a:pPr>
            <a:r>
              <a:rPr lang="en-US" sz="1300" dirty="0">
                <a:solidFill>
                  <a:srgbClr val="1A1A1A"/>
                </a:solidFill>
                <a:latin typeface="Arial" pitchFamily="34" charset="0"/>
                <a:ea typeface="Arial" pitchFamily="34" charset="-122"/>
                <a:cs typeface="Arial" pitchFamily="34" charset="-120"/>
              </a:rPr>
              <a:t>A budget-reservation leak — found only from a real live run. Failed calls never released their held tokens.</a:t>
            </a:r>
            <a:endParaRPr lang="en-US" sz="1300" dirty="0"/>
          </a:p>
          <a:p>
            <a:pPr marL="342900" indent="-342900">
              <a:lnSpc>
                <a:spcPct val="130000"/>
              </a:lnSpc>
              <a:spcAft>
                <a:spcPts val="1800"/>
              </a:spcAft>
              <a:buSzPct val="100000"/>
              <a:buChar char="•"/>
            </a:pPr>
            <a:r>
              <a:rPr lang="en-US" sz="1300" dirty="0">
                <a:solidFill>
                  <a:srgbClr val="1A1A1A"/>
                </a:solidFill>
                <a:latin typeface="Arial" pitchFamily="34" charset="0"/>
                <a:ea typeface="Arial" pitchFamily="34" charset="-122"/>
                <a:cs typeface="Arial" pitchFamily="34" charset="-120"/>
              </a:rPr>
              <a:t>Judge scores matched to arguments by array position alone — fixed with an explicit ID the judge must echo back, verified by code.</a:t>
            </a:r>
            <a:endParaRPr lang="en-US" sz="1300" dirty="0"/>
          </a:p>
          <a:p>
            <a:pPr marL="342900" indent="-342900">
              <a:lnSpc>
                <a:spcPct val="130000"/>
              </a:lnSpc>
              <a:spcAft>
                <a:spcPts val="1800"/>
              </a:spcAft>
              <a:buSzPct val="100000"/>
              <a:buChar char="•"/>
            </a:pPr>
            <a:r>
              <a:rPr lang="en-US" sz="1300" dirty="0">
                <a:solidFill>
                  <a:srgbClr val="1A1A1A"/>
                </a:solidFill>
                <a:latin typeface="Arial" pitchFamily="34" charset="0"/>
                <a:ea typeface="Arial" pitchFamily="34" charset="-122"/>
                <a:cs typeface="Arial" pitchFamily="34" charset="-120"/>
              </a:rPr>
              <a:t>A mutation-testing bug that silently under-counted its own kills — found, fixed, then used to re-verify earlier work.</a:t>
            </a:r>
            <a:endParaRPr lang="en-US" sz="1300" dirty="0"/>
          </a:p>
        </p:txBody>
      </p:sp>
      <p:sp>
        <p:nvSpPr>
          <p:cNvPr id="9" name="Text 7"/>
          <p:cNvSpPr txBox="1"/>
          <p:nvPr/>
        </p:nvSpPr>
        <p:spPr>
          <a:xfrm>
            <a:off x="640080" y="6492240"/>
            <a:ext cx="86868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The LLM Council — decision support only, requires human clinical sign-off</a:t>
            </a:r>
            <a:endParaRPr lang="en-US" sz="900" dirty="0"/>
          </a:p>
        </p:txBody>
      </p:sp>
      <p:sp>
        <p:nvSpPr>
          <p:cNvPr id="10" name="Text 8"/>
          <p:cNvSpPr txBox="1"/>
          <p:nvPr/>
        </p:nvSpPr>
        <p:spPr>
          <a:xfrm>
            <a:off x="11612880" y="6492240"/>
            <a:ext cx="45720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100" b="1" spc="150" kern="0" dirty="0">
                <a:solidFill>
                  <a:srgbClr val="8C8C8C"/>
                </a:solidFill>
                <a:latin typeface="Arial" pitchFamily="34" charset="0"/>
                <a:ea typeface="Arial" pitchFamily="34" charset="-122"/>
                <a:cs typeface="Arial" pitchFamily="34" charset="-120"/>
              </a:rPr>
              <a:t>A TRADE-OFF, MADE LIVE</a:t>
            </a:r>
            <a:endParaRPr lang="en-US" sz="1100" dirty="0"/>
          </a:p>
        </p:txBody>
      </p:sp>
      <p:sp>
        <p:nvSpPr>
          <p:cNvPr id="3" name="Text 1"/>
          <p:cNvSpPr txBox="1"/>
          <p:nvPr/>
        </p:nvSpPr>
        <p:spPr>
          <a:xfrm>
            <a:off x="640080" y="777240"/>
            <a:ext cx="10881360" cy="8229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When two of my chosen models were pulled mid-build</a:t>
            </a:r>
            <a:endParaRPr lang="en-US" sz="2600" dirty="0"/>
          </a:p>
        </p:txBody>
      </p:sp>
      <p:sp>
        <p:nvSpPr>
          <p:cNvPr id="4" name="Text 2"/>
          <p:cNvSpPr txBox="1"/>
          <p:nvPr/>
        </p:nvSpPr>
        <p:spPr>
          <a:xfrm>
            <a:off x="640080" y="1828800"/>
            <a:ext cx="411480" cy="365760"/>
          </a:xfrm>
          <a:prstGeom prst="rect">
            <a:avLst/>
          </a:prstGeom>
          <a:noFill/>
          <a:ln/>
        </p:spPr>
        <p:txBody>
          <a:bodyPr wrap="square" lIns="0" tIns="0" rIns="0" bIns="0" rtlCol="0" anchor="ctr"/>
          <a:lstStyle/>
          <a:p>
            <a:pPr indent="0" marL="0">
              <a:buNone/>
            </a:pPr>
            <a:r>
              <a:rPr lang="en-US" sz="1500" b="1" dirty="0">
                <a:solidFill>
                  <a:srgbClr val="2C4A52"/>
                </a:solidFill>
                <a:latin typeface="Arial" pitchFamily="34" charset="0"/>
                <a:ea typeface="Arial" pitchFamily="34" charset="-122"/>
                <a:cs typeface="Arial" pitchFamily="34" charset="-120"/>
              </a:rPr>
              <a:t>1.</a:t>
            </a:r>
            <a:endParaRPr lang="en-US" sz="1500" dirty="0"/>
          </a:p>
        </p:txBody>
      </p:sp>
      <p:sp>
        <p:nvSpPr>
          <p:cNvPr id="5" name="Text 3"/>
          <p:cNvSpPr txBox="1"/>
          <p:nvPr/>
        </p:nvSpPr>
        <p:spPr>
          <a:xfrm>
            <a:off x="1097280" y="1810512"/>
            <a:ext cx="10424160" cy="502920"/>
          </a:xfrm>
          <a:prstGeom prst="rect">
            <a:avLst/>
          </a:prstGeom>
          <a:noFill/>
          <a:ln/>
        </p:spPr>
        <p:txBody>
          <a:bodyPr wrap="square" lIns="0" tIns="0" rIns="0" bIns="0" rtlCol="0" anchor="ctr"/>
          <a:lstStyle/>
          <a:p>
            <a:pPr indent="0" marL="0">
              <a:lnSpc>
                <a:spcPct val="120000"/>
              </a:lnSpc>
              <a:buNone/>
            </a:pPr>
            <a:r>
              <a:rPr lang="en-US" sz="1350" b="1" dirty="0">
                <a:solidFill>
                  <a:srgbClr val="1A1A1A"/>
                </a:solidFill>
                <a:latin typeface="Arial" pitchFamily="34" charset="0"/>
                <a:ea typeface="Arial" pitchFamily="34" charset="-122"/>
                <a:cs typeface="Arial" pitchFamily="34" charset="-120"/>
              </a:rPr>
              <a:t>Two configured models were deprecated by Groq mid-build  —  </a:t>
            </a:r>
            <a:pPr indent="0" marL="0">
              <a:lnSpc>
                <a:spcPct val="120000"/>
              </a:lnSpc>
              <a:buNone/>
            </a:pPr>
            <a:r>
              <a:rPr lang="en-US" sz="1350" dirty="0">
                <a:solidFill>
                  <a:srgbClr val="595959"/>
                </a:solidFill>
                <a:latin typeface="Arial" pitchFamily="34" charset="0"/>
                <a:ea typeface="Arial" pitchFamily="34" charset="-122"/>
                <a:cs typeface="Arial" pitchFamily="34" charset="-120"/>
              </a:rPr>
              <a:t>one had already been retired a month before I first used it.</a:t>
            </a:r>
            <a:endParaRPr lang="en-US" sz="1350" dirty="0"/>
          </a:p>
        </p:txBody>
      </p:sp>
      <p:sp>
        <p:nvSpPr>
          <p:cNvPr id="6" name="Shape 4"/>
          <p:cNvSpPr/>
          <p:nvPr/>
        </p:nvSpPr>
        <p:spPr>
          <a:xfrm>
            <a:off x="1097280" y="2423160"/>
            <a:ext cx="10451592" cy="0"/>
          </a:xfrm>
          <a:prstGeom prst="line">
            <a:avLst/>
          </a:prstGeom>
          <a:noFill/>
          <a:ln w="9525">
            <a:solidFill>
              <a:srgbClr val="D9D9D9"/>
            </a:solidFill>
            <a:prstDash val="solid"/>
          </a:ln>
        </p:spPr>
      </p:sp>
      <p:sp>
        <p:nvSpPr>
          <p:cNvPr id="7" name="Text 5"/>
          <p:cNvSpPr txBox="1"/>
          <p:nvPr/>
        </p:nvSpPr>
        <p:spPr>
          <a:xfrm>
            <a:off x="640080" y="2651760"/>
            <a:ext cx="411480" cy="365760"/>
          </a:xfrm>
          <a:prstGeom prst="rect">
            <a:avLst/>
          </a:prstGeom>
          <a:noFill/>
          <a:ln/>
        </p:spPr>
        <p:txBody>
          <a:bodyPr wrap="square" lIns="0" tIns="0" rIns="0" bIns="0" rtlCol="0" anchor="ctr"/>
          <a:lstStyle/>
          <a:p>
            <a:pPr indent="0" marL="0">
              <a:buNone/>
            </a:pPr>
            <a:r>
              <a:rPr lang="en-US" sz="1500" b="1" dirty="0">
                <a:solidFill>
                  <a:srgbClr val="2C4A52"/>
                </a:solidFill>
                <a:latin typeface="Arial" pitchFamily="34" charset="0"/>
                <a:ea typeface="Arial" pitchFamily="34" charset="-122"/>
                <a:cs typeface="Arial" pitchFamily="34" charset="-120"/>
              </a:rPr>
              <a:t>2.</a:t>
            </a:r>
            <a:endParaRPr lang="en-US" sz="1500" dirty="0"/>
          </a:p>
        </p:txBody>
      </p:sp>
      <p:sp>
        <p:nvSpPr>
          <p:cNvPr id="8" name="Text 6"/>
          <p:cNvSpPr txBox="1"/>
          <p:nvPr/>
        </p:nvSpPr>
        <p:spPr>
          <a:xfrm>
            <a:off x="1097280" y="2633472"/>
            <a:ext cx="10424160" cy="502920"/>
          </a:xfrm>
          <a:prstGeom prst="rect">
            <a:avLst/>
          </a:prstGeom>
          <a:noFill/>
          <a:ln/>
        </p:spPr>
        <p:txBody>
          <a:bodyPr wrap="square" lIns="0" tIns="0" rIns="0" bIns="0" rtlCol="0" anchor="ctr"/>
          <a:lstStyle/>
          <a:p>
            <a:pPr indent="0" marL="0">
              <a:lnSpc>
                <a:spcPct val="120000"/>
              </a:lnSpc>
              <a:buNone/>
            </a:pPr>
            <a:r>
              <a:rPr lang="en-US" sz="1350" b="1" dirty="0">
                <a:solidFill>
                  <a:srgbClr val="1A1A1A"/>
                </a:solidFill>
                <a:latin typeface="Arial" pitchFamily="34" charset="0"/>
                <a:ea typeface="Arial" pitchFamily="34" charset="-122"/>
                <a:cs typeface="Arial" pitchFamily="34" charset="-120"/>
              </a:rPr>
              <a:t>Diagnosed from the real API error text, not a guess  —  </a:t>
            </a:r>
            <a:pPr indent="0" marL="0">
              <a:lnSpc>
                <a:spcPct val="120000"/>
              </a:lnSpc>
              <a:buNone/>
            </a:pPr>
            <a:r>
              <a:rPr lang="en-US" sz="1350" dirty="0">
                <a:solidFill>
                  <a:srgbClr val="595959"/>
                </a:solidFill>
                <a:latin typeface="Arial" pitchFamily="34" charset="0"/>
                <a:ea typeface="Arial" pitchFamily="34" charset="-122"/>
                <a:cs typeface="Arial" pitchFamily="34" charset="-120"/>
              </a:rPr>
              <a:t>the free tier's real ceiling is 7,000–8,000 tokens per minute — one judge call alone needed nearly double that.</a:t>
            </a:r>
            <a:endParaRPr lang="en-US" sz="1350" dirty="0"/>
          </a:p>
        </p:txBody>
      </p:sp>
      <p:sp>
        <p:nvSpPr>
          <p:cNvPr id="9" name="Shape 7"/>
          <p:cNvSpPr/>
          <p:nvPr/>
        </p:nvSpPr>
        <p:spPr>
          <a:xfrm>
            <a:off x="1097280" y="3246120"/>
            <a:ext cx="10451592" cy="0"/>
          </a:xfrm>
          <a:prstGeom prst="line">
            <a:avLst/>
          </a:prstGeom>
          <a:noFill/>
          <a:ln w="9525">
            <a:solidFill>
              <a:srgbClr val="D9D9D9"/>
            </a:solidFill>
            <a:prstDash val="solid"/>
          </a:ln>
        </p:spPr>
      </p:sp>
      <p:sp>
        <p:nvSpPr>
          <p:cNvPr id="10" name="Text 8"/>
          <p:cNvSpPr txBox="1"/>
          <p:nvPr/>
        </p:nvSpPr>
        <p:spPr>
          <a:xfrm>
            <a:off x="640080" y="3474720"/>
            <a:ext cx="411480" cy="365760"/>
          </a:xfrm>
          <a:prstGeom prst="rect">
            <a:avLst/>
          </a:prstGeom>
          <a:noFill/>
          <a:ln/>
        </p:spPr>
        <p:txBody>
          <a:bodyPr wrap="square" lIns="0" tIns="0" rIns="0" bIns="0" rtlCol="0" anchor="ctr"/>
          <a:lstStyle/>
          <a:p>
            <a:pPr indent="0" marL="0">
              <a:buNone/>
            </a:pPr>
            <a:r>
              <a:rPr lang="en-US" sz="1500" b="1" dirty="0">
                <a:solidFill>
                  <a:srgbClr val="2C4A52"/>
                </a:solidFill>
                <a:latin typeface="Arial" pitchFamily="34" charset="0"/>
                <a:ea typeface="Arial" pitchFamily="34" charset="-122"/>
                <a:cs typeface="Arial" pitchFamily="34" charset="-120"/>
              </a:rPr>
              <a:t>3.</a:t>
            </a:r>
            <a:endParaRPr lang="en-US" sz="1500" dirty="0"/>
          </a:p>
        </p:txBody>
      </p:sp>
      <p:sp>
        <p:nvSpPr>
          <p:cNvPr id="11" name="Text 9"/>
          <p:cNvSpPr txBox="1"/>
          <p:nvPr/>
        </p:nvSpPr>
        <p:spPr>
          <a:xfrm>
            <a:off x="1097280" y="3456432"/>
            <a:ext cx="10424160" cy="502920"/>
          </a:xfrm>
          <a:prstGeom prst="rect">
            <a:avLst/>
          </a:prstGeom>
          <a:noFill/>
          <a:ln/>
        </p:spPr>
        <p:txBody>
          <a:bodyPr wrap="square" lIns="0" tIns="0" rIns="0" bIns="0" rtlCol="0" anchor="ctr"/>
          <a:lstStyle/>
          <a:p>
            <a:pPr indent="0" marL="0">
              <a:lnSpc>
                <a:spcPct val="120000"/>
              </a:lnSpc>
              <a:buNone/>
            </a:pPr>
            <a:r>
              <a:rPr lang="en-US" sz="1350" b="1" dirty="0">
                <a:solidFill>
                  <a:srgbClr val="1A1A1A"/>
                </a:solidFill>
                <a:latin typeface="Arial" pitchFamily="34" charset="0"/>
                <a:ea typeface="Arial" pitchFamily="34" charset="-122"/>
                <a:cs typeface="Arial" pitchFamily="34" charset="-120"/>
              </a:rPr>
              <a:t>Removed the real waste first, then restructured the design  —  </a:t>
            </a:r>
            <a:pPr indent="0" marL="0">
              <a:lnSpc>
                <a:spcPct val="120000"/>
              </a:lnSpc>
              <a:buNone/>
            </a:pPr>
            <a:r>
              <a:rPr lang="en-US" sz="1350" dirty="0">
                <a:solidFill>
                  <a:srgbClr val="595959"/>
                </a:solidFill>
                <a:latin typeface="Arial" pitchFamily="34" charset="0"/>
                <a:ea typeface="Arial" pitchFamily="34" charset="-122"/>
                <a:cs typeface="Arial" pitchFamily="34" charset="-120"/>
              </a:rPr>
              <a:t>deduplicated repeated source text shown to judges and the chair, then moved judging from one call per round to one call per argument.</a:t>
            </a:r>
            <a:endParaRPr lang="en-US" sz="1350" dirty="0"/>
          </a:p>
        </p:txBody>
      </p:sp>
      <p:sp>
        <p:nvSpPr>
          <p:cNvPr id="12" name="Shape 10"/>
          <p:cNvSpPr/>
          <p:nvPr/>
        </p:nvSpPr>
        <p:spPr>
          <a:xfrm>
            <a:off x="1097280" y="4069080"/>
            <a:ext cx="10451592" cy="0"/>
          </a:xfrm>
          <a:prstGeom prst="line">
            <a:avLst/>
          </a:prstGeom>
          <a:noFill/>
          <a:ln w="9525">
            <a:solidFill>
              <a:srgbClr val="D9D9D9"/>
            </a:solidFill>
            <a:prstDash val="solid"/>
          </a:ln>
        </p:spPr>
      </p:sp>
      <p:sp>
        <p:nvSpPr>
          <p:cNvPr id="13" name="Text 11"/>
          <p:cNvSpPr txBox="1"/>
          <p:nvPr/>
        </p:nvSpPr>
        <p:spPr>
          <a:xfrm>
            <a:off x="640080" y="4297680"/>
            <a:ext cx="411480" cy="365760"/>
          </a:xfrm>
          <a:prstGeom prst="rect">
            <a:avLst/>
          </a:prstGeom>
          <a:noFill/>
          <a:ln/>
        </p:spPr>
        <p:txBody>
          <a:bodyPr wrap="square" lIns="0" tIns="0" rIns="0" bIns="0" rtlCol="0" anchor="ctr"/>
          <a:lstStyle/>
          <a:p>
            <a:pPr indent="0" marL="0">
              <a:buNone/>
            </a:pPr>
            <a:r>
              <a:rPr lang="en-US" sz="1500" b="1" dirty="0">
                <a:solidFill>
                  <a:srgbClr val="2C4A52"/>
                </a:solidFill>
                <a:latin typeface="Arial" pitchFamily="34" charset="0"/>
                <a:ea typeface="Arial" pitchFamily="34" charset="-122"/>
                <a:cs typeface="Arial" pitchFamily="34" charset="-120"/>
              </a:rPr>
              <a:t>4.</a:t>
            </a:r>
            <a:endParaRPr lang="en-US" sz="1500" dirty="0"/>
          </a:p>
        </p:txBody>
      </p:sp>
      <p:sp>
        <p:nvSpPr>
          <p:cNvPr id="14" name="Text 12"/>
          <p:cNvSpPr txBox="1"/>
          <p:nvPr/>
        </p:nvSpPr>
        <p:spPr>
          <a:xfrm>
            <a:off x="1097280" y="4279392"/>
            <a:ext cx="10424160" cy="502920"/>
          </a:xfrm>
          <a:prstGeom prst="rect">
            <a:avLst/>
          </a:prstGeom>
          <a:noFill/>
          <a:ln/>
        </p:spPr>
        <p:txBody>
          <a:bodyPr wrap="square" lIns="0" tIns="0" rIns="0" bIns="0" rtlCol="0" anchor="ctr"/>
          <a:lstStyle/>
          <a:p>
            <a:pPr indent="0" marL="0">
              <a:lnSpc>
                <a:spcPct val="120000"/>
              </a:lnSpc>
              <a:buNone/>
            </a:pPr>
            <a:r>
              <a:rPr lang="en-US" sz="1350" b="1" dirty="0">
                <a:solidFill>
                  <a:srgbClr val="1A1A1A"/>
                </a:solidFill>
                <a:latin typeface="Arial" pitchFamily="34" charset="0"/>
                <a:ea typeface="Arial" pitchFamily="34" charset="-122"/>
                <a:cs typeface="Arial" pitchFamily="34" charset="-120"/>
              </a:rPr>
              <a:t>What's left to trade is time, not quality  —  </a:t>
            </a:r>
            <a:pPr indent="0" marL="0">
              <a:lnSpc>
                <a:spcPct val="120000"/>
              </a:lnSpc>
              <a:buNone/>
            </a:pPr>
            <a:r>
              <a:rPr lang="en-US" sz="1350" dirty="0">
                <a:solidFill>
                  <a:srgbClr val="595959"/>
                </a:solidFill>
                <a:latin typeface="Arial" pitchFamily="34" charset="0"/>
                <a:ea typeface="Arial" pitchFamily="34" charset="-122"/>
                <a:cs typeface="Arial" pitchFamily="34" charset="-120"/>
              </a:rPr>
              <a:t>a full run can take 30–45 minutes on the free tier — and that ceiling is now a config setting, not a hardcoded number.</a:t>
            </a:r>
            <a:endParaRPr lang="en-US" sz="1350" dirty="0"/>
          </a:p>
        </p:txBody>
      </p:sp>
      <p:sp>
        <p:nvSpPr>
          <p:cNvPr id="15" name="Shape 13"/>
          <p:cNvSpPr/>
          <p:nvPr/>
        </p:nvSpPr>
        <p:spPr>
          <a:xfrm>
            <a:off x="640080" y="5303520"/>
            <a:ext cx="10908792" cy="0"/>
          </a:xfrm>
          <a:prstGeom prst="line">
            <a:avLst/>
          </a:prstGeom>
          <a:noFill/>
          <a:ln w="9525">
            <a:solidFill>
              <a:srgbClr val="D9D9D9"/>
            </a:solidFill>
            <a:prstDash val="solid"/>
          </a:ln>
        </p:spPr>
      </p:sp>
      <p:sp>
        <p:nvSpPr>
          <p:cNvPr id="16" name="Text 14"/>
          <p:cNvSpPr txBox="1"/>
          <p:nvPr/>
        </p:nvSpPr>
        <p:spPr>
          <a:xfrm>
            <a:off x="640080" y="5486400"/>
            <a:ext cx="10881360" cy="457200"/>
          </a:xfrm>
          <a:prstGeom prst="rect">
            <a:avLst/>
          </a:prstGeom>
          <a:noFill/>
          <a:ln/>
        </p:spPr>
        <p:txBody>
          <a:bodyPr wrap="square" lIns="0" tIns="0" rIns="0" bIns="0" rtlCol="0" anchor="ctr"/>
          <a:lstStyle/>
          <a:p>
            <a:pPr indent="0" marL="0">
              <a:buNone/>
            </a:pPr>
            <a:r>
              <a:rPr lang="en-US" sz="1500" b="1" i="1" dirty="0">
                <a:solidFill>
                  <a:srgbClr val="2C4A52"/>
                </a:solidFill>
                <a:latin typeface="Arial" pitchFamily="34" charset="0"/>
                <a:ea typeface="Arial" pitchFamily="34" charset="-122"/>
                <a:cs typeface="Arial" pitchFamily="34" charset="-120"/>
              </a:rPr>
              <a:t>Re-engineered around the real constraint, twice — not just accepted once.</a:t>
            </a:r>
            <a:endParaRPr lang="en-US" sz="1500" dirty="0"/>
          </a:p>
        </p:txBody>
      </p:sp>
      <p:sp>
        <p:nvSpPr>
          <p:cNvPr id="17" name="Text 15"/>
          <p:cNvSpPr txBox="1"/>
          <p:nvPr/>
        </p:nvSpPr>
        <p:spPr>
          <a:xfrm>
            <a:off x="640080" y="6492240"/>
            <a:ext cx="86868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The LLM Council — decision support only, requires human clinical sign-off</a:t>
            </a:r>
            <a:endParaRPr lang="en-US" sz="900" dirty="0"/>
          </a:p>
        </p:txBody>
      </p:sp>
      <p:sp>
        <p:nvSpPr>
          <p:cNvPr id="18" name="Text 16"/>
          <p:cNvSpPr txBox="1"/>
          <p:nvPr/>
        </p:nvSpPr>
        <p:spPr>
          <a:xfrm>
            <a:off x="11612880" y="6492240"/>
            <a:ext cx="45720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100" b="1" spc="150" kern="0" dirty="0">
                <a:solidFill>
                  <a:srgbClr val="8C8C8C"/>
                </a:solidFill>
                <a:latin typeface="Arial" pitchFamily="34" charset="0"/>
                <a:ea typeface="Arial" pitchFamily="34" charset="-122"/>
                <a:cs typeface="Arial" pitchFamily="34" charset="-120"/>
              </a:rPr>
              <a:t>PRODUCTION &amp; NEXT STEPS</a:t>
            </a:r>
            <a:endParaRPr lang="en-US" sz="1100" dirty="0"/>
          </a:p>
        </p:txBody>
      </p:sp>
      <p:sp>
        <p:nvSpPr>
          <p:cNvPr id="3" name="Text 1"/>
          <p:cNvSpPr txBox="1"/>
          <p:nvPr/>
        </p:nvSpPr>
        <p:spPr>
          <a:xfrm>
            <a:off x="640080" y="777240"/>
            <a:ext cx="10881360" cy="82296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What I'd do next, in priority order</a:t>
            </a:r>
            <a:endParaRPr lang="en-US" sz="3000" dirty="0"/>
          </a:p>
        </p:txBody>
      </p:sp>
      <p:sp>
        <p:nvSpPr>
          <p:cNvPr id="4" name="Text 2"/>
          <p:cNvSpPr txBox="1"/>
          <p:nvPr/>
        </p:nvSpPr>
        <p:spPr>
          <a:xfrm>
            <a:off x="640080" y="1828800"/>
            <a:ext cx="365760" cy="365760"/>
          </a:xfrm>
          <a:prstGeom prst="rect">
            <a:avLst/>
          </a:prstGeom>
          <a:noFill/>
          <a:ln/>
        </p:spPr>
        <p:txBody>
          <a:bodyPr wrap="square" lIns="0" tIns="0" rIns="0" bIns="0" rtlCol="0" anchor="ctr"/>
          <a:lstStyle/>
          <a:p>
            <a:pPr indent="0" marL="0">
              <a:buNone/>
            </a:pPr>
            <a:r>
              <a:rPr lang="en-US" sz="1500" b="1" dirty="0">
                <a:solidFill>
                  <a:srgbClr val="2C4A52"/>
                </a:solidFill>
                <a:latin typeface="Arial" pitchFamily="34" charset="0"/>
                <a:ea typeface="Arial" pitchFamily="34" charset="-122"/>
                <a:cs typeface="Arial" pitchFamily="34" charset="-120"/>
              </a:rPr>
              <a:t>1.</a:t>
            </a:r>
            <a:endParaRPr lang="en-US" sz="1500" dirty="0"/>
          </a:p>
        </p:txBody>
      </p:sp>
      <p:sp>
        <p:nvSpPr>
          <p:cNvPr id="5" name="Text 3"/>
          <p:cNvSpPr txBox="1"/>
          <p:nvPr/>
        </p:nvSpPr>
        <p:spPr>
          <a:xfrm>
            <a:off x="1024128" y="1828800"/>
            <a:ext cx="4965192"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Real de-identification</a:t>
            </a:r>
            <a:endParaRPr lang="en-US" sz="1400" dirty="0"/>
          </a:p>
        </p:txBody>
      </p:sp>
      <p:sp>
        <p:nvSpPr>
          <p:cNvPr id="6" name="Text 4"/>
          <p:cNvSpPr txBox="1"/>
          <p:nvPr/>
        </p:nvSpPr>
        <p:spPr>
          <a:xfrm>
            <a:off x="1024128" y="2194560"/>
            <a:ext cx="4965192" cy="548640"/>
          </a:xfrm>
          <a:prstGeom prst="rect">
            <a:avLst/>
          </a:prstGeom>
          <a:noFill/>
          <a:ln/>
        </p:spPr>
        <p:txBody>
          <a:bodyPr wrap="square" lIns="0" tIns="0" rIns="0" bIns="0" rtlCol="0" anchor="ctr"/>
          <a:lstStyle/>
          <a:p>
            <a:pPr indent="0" marL="0">
              <a:lnSpc>
                <a:spcPct val="115000"/>
              </a:lnSpc>
              <a:buNone/>
            </a:pPr>
            <a:r>
              <a:rPr lang="en-US" sz="1200" dirty="0">
                <a:solidFill>
                  <a:srgbClr val="595959"/>
                </a:solidFill>
                <a:latin typeface="Arial" pitchFamily="34" charset="0"/>
                <a:ea typeface="Arial" pitchFamily="34" charset="-122"/>
                <a:cs typeface="Arial" pitchFamily="34" charset="-120"/>
              </a:rPr>
              <a:t>before any model call — today's check is pattern-based only</a:t>
            </a:r>
            <a:endParaRPr lang="en-US" sz="1200" dirty="0"/>
          </a:p>
        </p:txBody>
      </p:sp>
      <p:sp>
        <p:nvSpPr>
          <p:cNvPr id="7" name="Shape 5"/>
          <p:cNvSpPr/>
          <p:nvPr/>
        </p:nvSpPr>
        <p:spPr>
          <a:xfrm>
            <a:off x="640080" y="2871216"/>
            <a:ext cx="5349240" cy="0"/>
          </a:xfrm>
          <a:prstGeom prst="line">
            <a:avLst/>
          </a:prstGeom>
          <a:noFill/>
          <a:ln w="9525">
            <a:solidFill>
              <a:srgbClr val="D9D9D9"/>
            </a:solidFill>
            <a:prstDash val="solid"/>
          </a:ln>
        </p:spPr>
      </p:sp>
      <p:sp>
        <p:nvSpPr>
          <p:cNvPr id="8" name="Text 6"/>
          <p:cNvSpPr txBox="1"/>
          <p:nvPr/>
        </p:nvSpPr>
        <p:spPr>
          <a:xfrm>
            <a:off x="6355080" y="1828800"/>
            <a:ext cx="365760" cy="365760"/>
          </a:xfrm>
          <a:prstGeom prst="rect">
            <a:avLst/>
          </a:prstGeom>
          <a:noFill/>
          <a:ln/>
        </p:spPr>
        <p:txBody>
          <a:bodyPr wrap="square" lIns="0" tIns="0" rIns="0" bIns="0" rtlCol="0" anchor="ctr"/>
          <a:lstStyle/>
          <a:p>
            <a:pPr indent="0" marL="0">
              <a:buNone/>
            </a:pPr>
            <a:r>
              <a:rPr lang="en-US" sz="1500" b="1" dirty="0">
                <a:solidFill>
                  <a:srgbClr val="2C4A52"/>
                </a:solidFill>
                <a:latin typeface="Arial" pitchFamily="34" charset="0"/>
                <a:ea typeface="Arial" pitchFamily="34" charset="-122"/>
                <a:cs typeface="Arial" pitchFamily="34" charset="-120"/>
              </a:rPr>
              <a:t>2.</a:t>
            </a:r>
            <a:endParaRPr lang="en-US" sz="1500" dirty="0"/>
          </a:p>
        </p:txBody>
      </p:sp>
      <p:sp>
        <p:nvSpPr>
          <p:cNvPr id="9" name="Text 7"/>
          <p:cNvSpPr txBox="1"/>
          <p:nvPr/>
        </p:nvSpPr>
        <p:spPr>
          <a:xfrm>
            <a:off x="6739128" y="1828800"/>
            <a:ext cx="4965192"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A hosted gateway</a:t>
            </a:r>
            <a:endParaRPr lang="en-US" sz="1400" dirty="0"/>
          </a:p>
        </p:txBody>
      </p:sp>
      <p:sp>
        <p:nvSpPr>
          <p:cNvPr id="10" name="Text 8"/>
          <p:cNvSpPr txBox="1"/>
          <p:nvPr/>
        </p:nvSpPr>
        <p:spPr>
          <a:xfrm>
            <a:off x="6739128" y="2194560"/>
            <a:ext cx="4965192" cy="548640"/>
          </a:xfrm>
          <a:prstGeom prst="rect">
            <a:avLst/>
          </a:prstGeom>
          <a:noFill/>
          <a:ln/>
        </p:spPr>
        <p:txBody>
          <a:bodyPr wrap="square" lIns="0" tIns="0" rIns="0" bIns="0" rtlCol="0" anchor="ctr"/>
          <a:lstStyle/>
          <a:p>
            <a:pPr indent="0" marL="0">
              <a:lnSpc>
                <a:spcPct val="115000"/>
              </a:lnSpc>
              <a:buNone/>
            </a:pPr>
            <a:r>
              <a:rPr lang="en-US" sz="1200" dirty="0">
                <a:solidFill>
                  <a:srgbClr val="595959"/>
                </a:solidFill>
                <a:latin typeface="Arial" pitchFamily="34" charset="0"/>
                <a:ea typeface="Arial" pitchFamily="34" charset="-122"/>
                <a:cs typeface="Arial" pitchFamily="34" charset="-120"/>
              </a:rPr>
              <a:t>rate limits, caching, and key rotation shared across users</a:t>
            </a:r>
            <a:endParaRPr lang="en-US" sz="1200" dirty="0"/>
          </a:p>
        </p:txBody>
      </p:sp>
      <p:sp>
        <p:nvSpPr>
          <p:cNvPr id="11" name="Shape 9"/>
          <p:cNvSpPr/>
          <p:nvPr/>
        </p:nvSpPr>
        <p:spPr>
          <a:xfrm>
            <a:off x="6355080" y="2871216"/>
            <a:ext cx="5349240" cy="0"/>
          </a:xfrm>
          <a:prstGeom prst="line">
            <a:avLst/>
          </a:prstGeom>
          <a:noFill/>
          <a:ln w="9525">
            <a:solidFill>
              <a:srgbClr val="D9D9D9"/>
            </a:solidFill>
            <a:prstDash val="solid"/>
          </a:ln>
        </p:spPr>
      </p:sp>
      <p:sp>
        <p:nvSpPr>
          <p:cNvPr id="12" name="Text 10"/>
          <p:cNvSpPr txBox="1"/>
          <p:nvPr/>
        </p:nvSpPr>
        <p:spPr>
          <a:xfrm>
            <a:off x="640080" y="3035808"/>
            <a:ext cx="365760" cy="365760"/>
          </a:xfrm>
          <a:prstGeom prst="rect">
            <a:avLst/>
          </a:prstGeom>
          <a:noFill/>
          <a:ln/>
        </p:spPr>
        <p:txBody>
          <a:bodyPr wrap="square" lIns="0" tIns="0" rIns="0" bIns="0" rtlCol="0" anchor="ctr"/>
          <a:lstStyle/>
          <a:p>
            <a:pPr indent="0" marL="0">
              <a:buNone/>
            </a:pPr>
            <a:r>
              <a:rPr lang="en-US" sz="1500" b="1" dirty="0">
                <a:solidFill>
                  <a:srgbClr val="2C4A52"/>
                </a:solidFill>
                <a:latin typeface="Arial" pitchFamily="34" charset="0"/>
                <a:ea typeface="Arial" pitchFamily="34" charset="-122"/>
                <a:cs typeface="Arial" pitchFamily="34" charset="-120"/>
              </a:rPr>
              <a:t>3.</a:t>
            </a:r>
            <a:endParaRPr lang="en-US" sz="1500" dirty="0"/>
          </a:p>
        </p:txBody>
      </p:sp>
      <p:sp>
        <p:nvSpPr>
          <p:cNvPr id="13" name="Text 11"/>
          <p:cNvSpPr txBox="1"/>
          <p:nvPr/>
        </p:nvSpPr>
        <p:spPr>
          <a:xfrm>
            <a:off x="1024128" y="3035808"/>
            <a:ext cx="4965192"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An ML-based guardrail model</a:t>
            </a:r>
            <a:endParaRPr lang="en-US" sz="1400" dirty="0"/>
          </a:p>
        </p:txBody>
      </p:sp>
      <p:sp>
        <p:nvSpPr>
          <p:cNvPr id="14" name="Text 12"/>
          <p:cNvSpPr txBox="1"/>
          <p:nvPr/>
        </p:nvSpPr>
        <p:spPr>
          <a:xfrm>
            <a:off x="1024128" y="3401568"/>
            <a:ext cx="4965192" cy="548640"/>
          </a:xfrm>
          <a:prstGeom prst="rect">
            <a:avLst/>
          </a:prstGeom>
          <a:noFill/>
          <a:ln/>
        </p:spPr>
        <p:txBody>
          <a:bodyPr wrap="square" lIns="0" tIns="0" rIns="0" bIns="0" rtlCol="0" anchor="ctr"/>
          <a:lstStyle/>
          <a:p>
            <a:pPr indent="0" marL="0">
              <a:lnSpc>
                <a:spcPct val="115000"/>
              </a:lnSpc>
              <a:buNone/>
            </a:pPr>
            <a:r>
              <a:rPr lang="en-US" sz="1200" dirty="0">
                <a:solidFill>
                  <a:srgbClr val="595959"/>
                </a:solidFill>
                <a:latin typeface="Arial" pitchFamily="34" charset="0"/>
                <a:ea typeface="Arial" pitchFamily="34" charset="-122"/>
                <a:cs typeface="Arial" pitchFamily="34" charset="-120"/>
              </a:rPr>
              <a:t>a second, independent layer of injection detection, alongside the pattern scanner</a:t>
            </a:r>
            <a:endParaRPr lang="en-US" sz="1200" dirty="0"/>
          </a:p>
        </p:txBody>
      </p:sp>
      <p:sp>
        <p:nvSpPr>
          <p:cNvPr id="15" name="Shape 13"/>
          <p:cNvSpPr/>
          <p:nvPr/>
        </p:nvSpPr>
        <p:spPr>
          <a:xfrm>
            <a:off x="640080" y="4078224"/>
            <a:ext cx="5349240" cy="0"/>
          </a:xfrm>
          <a:prstGeom prst="line">
            <a:avLst/>
          </a:prstGeom>
          <a:noFill/>
          <a:ln w="9525">
            <a:solidFill>
              <a:srgbClr val="D9D9D9"/>
            </a:solidFill>
            <a:prstDash val="solid"/>
          </a:ln>
        </p:spPr>
      </p:sp>
      <p:sp>
        <p:nvSpPr>
          <p:cNvPr id="16" name="Text 14"/>
          <p:cNvSpPr txBox="1"/>
          <p:nvPr/>
        </p:nvSpPr>
        <p:spPr>
          <a:xfrm>
            <a:off x="6355080" y="3035808"/>
            <a:ext cx="365760" cy="365760"/>
          </a:xfrm>
          <a:prstGeom prst="rect">
            <a:avLst/>
          </a:prstGeom>
          <a:noFill/>
          <a:ln/>
        </p:spPr>
        <p:txBody>
          <a:bodyPr wrap="square" lIns="0" tIns="0" rIns="0" bIns="0" rtlCol="0" anchor="ctr"/>
          <a:lstStyle/>
          <a:p>
            <a:pPr indent="0" marL="0">
              <a:buNone/>
            </a:pPr>
            <a:r>
              <a:rPr lang="en-US" sz="1500" b="1" dirty="0">
                <a:solidFill>
                  <a:srgbClr val="2C4A52"/>
                </a:solidFill>
                <a:latin typeface="Arial" pitchFamily="34" charset="0"/>
                <a:ea typeface="Arial" pitchFamily="34" charset="-122"/>
                <a:cs typeface="Arial" pitchFamily="34" charset="-120"/>
              </a:rPr>
              <a:t>4.</a:t>
            </a:r>
            <a:endParaRPr lang="en-US" sz="1500" dirty="0"/>
          </a:p>
        </p:txBody>
      </p:sp>
      <p:sp>
        <p:nvSpPr>
          <p:cNvPr id="17" name="Text 15"/>
          <p:cNvSpPr txBox="1"/>
          <p:nvPr/>
        </p:nvSpPr>
        <p:spPr>
          <a:xfrm>
            <a:off x="6739128" y="3035808"/>
            <a:ext cx="4965192"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Code-level targeted repair</a:t>
            </a:r>
            <a:endParaRPr lang="en-US" sz="1400" dirty="0"/>
          </a:p>
        </p:txBody>
      </p:sp>
      <p:sp>
        <p:nvSpPr>
          <p:cNvPr id="18" name="Text 16"/>
          <p:cNvSpPr txBox="1"/>
          <p:nvPr/>
        </p:nvSpPr>
        <p:spPr>
          <a:xfrm>
            <a:off x="6739128" y="3401568"/>
            <a:ext cx="4965192" cy="548640"/>
          </a:xfrm>
          <a:prstGeom prst="rect">
            <a:avLst/>
          </a:prstGeom>
          <a:noFill/>
          <a:ln/>
        </p:spPr>
        <p:txBody>
          <a:bodyPr wrap="square" lIns="0" tIns="0" rIns="0" bIns="0" rtlCol="0" anchor="ctr"/>
          <a:lstStyle/>
          <a:p>
            <a:pPr indent="0" marL="0">
              <a:lnSpc>
                <a:spcPct val="115000"/>
              </a:lnSpc>
              <a:buNone/>
            </a:pPr>
            <a:r>
              <a:rPr lang="en-US" sz="1200" dirty="0">
                <a:solidFill>
                  <a:srgbClr val="595959"/>
                </a:solidFill>
                <a:latin typeface="Arial" pitchFamily="34" charset="0"/>
                <a:ea typeface="Arial" pitchFamily="34" charset="-122"/>
                <a:cs typeface="Arial" pitchFamily="34" charset="-120"/>
              </a:rPr>
              <a:t>merge a model's one-piece fix into the preserved original, not a full resubmit</a:t>
            </a:r>
            <a:endParaRPr lang="en-US" sz="1200" dirty="0"/>
          </a:p>
        </p:txBody>
      </p:sp>
      <p:sp>
        <p:nvSpPr>
          <p:cNvPr id="19" name="Shape 17"/>
          <p:cNvSpPr/>
          <p:nvPr/>
        </p:nvSpPr>
        <p:spPr>
          <a:xfrm>
            <a:off x="6355080" y="4078224"/>
            <a:ext cx="5349240" cy="0"/>
          </a:xfrm>
          <a:prstGeom prst="line">
            <a:avLst/>
          </a:prstGeom>
          <a:noFill/>
          <a:ln w="9525">
            <a:solidFill>
              <a:srgbClr val="D9D9D9"/>
            </a:solidFill>
            <a:prstDash val="solid"/>
          </a:ln>
        </p:spPr>
      </p:sp>
      <p:sp>
        <p:nvSpPr>
          <p:cNvPr id="20" name="Text 18"/>
          <p:cNvSpPr txBox="1"/>
          <p:nvPr/>
        </p:nvSpPr>
        <p:spPr>
          <a:xfrm>
            <a:off x="640080" y="4242816"/>
            <a:ext cx="365760" cy="365760"/>
          </a:xfrm>
          <a:prstGeom prst="rect">
            <a:avLst/>
          </a:prstGeom>
          <a:noFill/>
          <a:ln/>
        </p:spPr>
        <p:txBody>
          <a:bodyPr wrap="square" lIns="0" tIns="0" rIns="0" bIns="0" rtlCol="0" anchor="ctr"/>
          <a:lstStyle/>
          <a:p>
            <a:pPr indent="0" marL="0">
              <a:buNone/>
            </a:pPr>
            <a:r>
              <a:rPr lang="en-US" sz="1500" b="1" dirty="0">
                <a:solidFill>
                  <a:srgbClr val="2C4A52"/>
                </a:solidFill>
                <a:latin typeface="Arial" pitchFamily="34" charset="0"/>
                <a:ea typeface="Arial" pitchFamily="34" charset="-122"/>
                <a:cs typeface="Arial" pitchFamily="34" charset="-120"/>
              </a:rPr>
              <a:t>5.</a:t>
            </a:r>
            <a:endParaRPr lang="en-US" sz="1500" dirty="0"/>
          </a:p>
        </p:txBody>
      </p:sp>
      <p:sp>
        <p:nvSpPr>
          <p:cNvPr id="21" name="Text 19"/>
          <p:cNvSpPr txBox="1"/>
          <p:nvPr/>
        </p:nvSpPr>
        <p:spPr>
          <a:xfrm>
            <a:off x="1024128" y="4242816"/>
            <a:ext cx="4965192"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Wider red-team coverage</a:t>
            </a:r>
            <a:endParaRPr lang="en-US" sz="1400" dirty="0"/>
          </a:p>
        </p:txBody>
      </p:sp>
      <p:sp>
        <p:nvSpPr>
          <p:cNvPr id="22" name="Text 20"/>
          <p:cNvSpPr txBox="1"/>
          <p:nvPr/>
        </p:nvSpPr>
        <p:spPr>
          <a:xfrm>
            <a:off x="1024128" y="4608576"/>
            <a:ext cx="4965192" cy="548640"/>
          </a:xfrm>
          <a:prstGeom prst="rect">
            <a:avLst/>
          </a:prstGeom>
          <a:noFill/>
          <a:ln/>
        </p:spPr>
        <p:txBody>
          <a:bodyPr wrap="square" lIns="0" tIns="0" rIns="0" bIns="0" rtlCol="0" anchor="ctr"/>
          <a:lstStyle/>
          <a:p>
            <a:pPr indent="0" marL="0">
              <a:lnSpc>
                <a:spcPct val="115000"/>
              </a:lnSpc>
              <a:buNone/>
            </a:pPr>
            <a:r>
              <a:rPr lang="en-US" sz="1200" dirty="0">
                <a:solidFill>
                  <a:srgbClr val="595959"/>
                </a:solidFill>
                <a:latin typeface="Arial" pitchFamily="34" charset="0"/>
                <a:ea typeface="Arial" pitchFamily="34" charset="-122"/>
                <a:cs typeface="Arial" pitchFamily="34" charset="-120"/>
              </a:rPr>
              <a:t>more attack patterns and case variety than two cases could cover</a:t>
            </a:r>
            <a:endParaRPr lang="en-US" sz="1200" dirty="0"/>
          </a:p>
        </p:txBody>
      </p:sp>
      <p:sp>
        <p:nvSpPr>
          <p:cNvPr id="23" name="Text 21"/>
          <p:cNvSpPr txBox="1"/>
          <p:nvPr/>
        </p:nvSpPr>
        <p:spPr>
          <a:xfrm>
            <a:off x="6355080" y="4242816"/>
            <a:ext cx="365760" cy="365760"/>
          </a:xfrm>
          <a:prstGeom prst="rect">
            <a:avLst/>
          </a:prstGeom>
          <a:noFill/>
          <a:ln/>
        </p:spPr>
        <p:txBody>
          <a:bodyPr wrap="square" lIns="0" tIns="0" rIns="0" bIns="0" rtlCol="0" anchor="ctr"/>
          <a:lstStyle/>
          <a:p>
            <a:pPr indent="0" marL="0">
              <a:buNone/>
            </a:pPr>
            <a:r>
              <a:rPr lang="en-US" sz="1500" b="1" dirty="0">
                <a:solidFill>
                  <a:srgbClr val="2C4A52"/>
                </a:solidFill>
                <a:latin typeface="Arial" pitchFamily="34" charset="0"/>
                <a:ea typeface="Arial" pitchFamily="34" charset="-122"/>
                <a:cs typeface="Arial" pitchFamily="34" charset="-120"/>
              </a:rPr>
              <a:t>6.</a:t>
            </a:r>
            <a:endParaRPr lang="en-US" sz="1500" dirty="0"/>
          </a:p>
        </p:txBody>
      </p:sp>
      <p:sp>
        <p:nvSpPr>
          <p:cNvPr id="24" name="Text 22"/>
          <p:cNvSpPr txBox="1"/>
          <p:nvPr/>
        </p:nvSpPr>
        <p:spPr>
          <a:xfrm>
            <a:off x="6739128" y="4242816"/>
            <a:ext cx="4965192"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Structured monitoring</a:t>
            </a:r>
            <a:endParaRPr lang="en-US" sz="1400" dirty="0"/>
          </a:p>
        </p:txBody>
      </p:sp>
      <p:sp>
        <p:nvSpPr>
          <p:cNvPr id="25" name="Text 23"/>
          <p:cNvSpPr txBox="1"/>
          <p:nvPr/>
        </p:nvSpPr>
        <p:spPr>
          <a:xfrm>
            <a:off x="6739128" y="4608576"/>
            <a:ext cx="4965192" cy="548640"/>
          </a:xfrm>
          <a:prstGeom prst="rect">
            <a:avLst/>
          </a:prstGeom>
          <a:noFill/>
          <a:ln/>
        </p:spPr>
        <p:txBody>
          <a:bodyPr wrap="square" lIns="0" tIns="0" rIns="0" bIns="0" rtlCol="0" anchor="ctr"/>
          <a:lstStyle/>
          <a:p>
            <a:pPr indent="0" marL="0">
              <a:lnSpc>
                <a:spcPct val="115000"/>
              </a:lnSpc>
              <a:buNone/>
            </a:pPr>
            <a:r>
              <a:rPr lang="en-US" sz="1200" dirty="0">
                <a:solidFill>
                  <a:srgbClr val="595959"/>
                </a:solidFill>
                <a:latin typeface="Arial" pitchFamily="34" charset="0"/>
                <a:ea typeface="Arial" pitchFamily="34" charset="-122"/>
                <a:cs typeface="Arial" pitchFamily="34" charset="-120"/>
              </a:rPr>
              <a:t>per-role cost and latency, not just pass/fail logs</a:t>
            </a:r>
            <a:endParaRPr lang="en-US" sz="1200" dirty="0"/>
          </a:p>
        </p:txBody>
      </p:sp>
      <p:sp>
        <p:nvSpPr>
          <p:cNvPr id="26" name="Text 24"/>
          <p:cNvSpPr txBox="1"/>
          <p:nvPr/>
        </p:nvSpPr>
        <p:spPr>
          <a:xfrm>
            <a:off x="640080" y="6492240"/>
            <a:ext cx="86868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The LLM Council — decision support only, requires human clinical sign-off</a:t>
            </a:r>
            <a:endParaRPr lang="en-US" sz="900" dirty="0"/>
          </a:p>
        </p:txBody>
      </p:sp>
      <p:sp>
        <p:nvSpPr>
          <p:cNvPr id="27" name="Text 25"/>
          <p:cNvSpPr txBox="1"/>
          <p:nvPr/>
        </p:nvSpPr>
        <p:spPr>
          <a:xfrm>
            <a:off x="11612880" y="6492240"/>
            <a:ext cx="45720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2651760"/>
            <a:ext cx="10515600" cy="914400"/>
          </a:xfrm>
          <a:prstGeom prst="rect">
            <a:avLst/>
          </a:prstGeom>
          <a:noFill/>
          <a:ln/>
        </p:spPr>
        <p:txBody>
          <a:bodyPr wrap="square" lIns="0" tIns="0" rIns="0" bIns="0" rtlCol="0" anchor="ctr"/>
          <a:lstStyle/>
          <a:p>
            <a:pPr indent="0" marL="0">
              <a:buNone/>
            </a:pPr>
            <a:r>
              <a:rPr lang="en-US" sz="3800" b="1" dirty="0">
                <a:solidFill>
                  <a:srgbClr val="1A1A1A"/>
                </a:solidFill>
                <a:latin typeface="Arial" pitchFamily="34" charset="0"/>
                <a:ea typeface="Arial" pitchFamily="34" charset="-122"/>
                <a:cs typeface="Arial" pitchFamily="34" charset="-120"/>
              </a:rPr>
              <a:t>Thank you</a:t>
            </a:r>
            <a:endParaRPr lang="en-US" sz="3800" dirty="0"/>
          </a:p>
        </p:txBody>
      </p:sp>
      <p:sp>
        <p:nvSpPr>
          <p:cNvPr id="3" name="Text 1"/>
          <p:cNvSpPr txBox="1"/>
          <p:nvPr/>
        </p:nvSpPr>
        <p:spPr>
          <a:xfrm>
            <a:off x="822960" y="3429000"/>
            <a:ext cx="10058400" cy="457200"/>
          </a:xfrm>
          <a:prstGeom prst="rect">
            <a:avLst/>
          </a:prstGeom>
          <a:noFill/>
          <a:ln/>
        </p:spPr>
        <p:txBody>
          <a:bodyPr wrap="square" lIns="0" tIns="0" rIns="0" bIns="0" rtlCol="0" anchor="ctr"/>
          <a:lstStyle/>
          <a:p>
            <a:pPr indent="0" marL="0">
              <a:buNone/>
            </a:pPr>
            <a:r>
              <a:rPr lang="en-US" sz="1700" dirty="0">
                <a:solidFill>
                  <a:srgbClr val="595959"/>
                </a:solidFill>
                <a:latin typeface="Arial" pitchFamily="34" charset="0"/>
                <a:ea typeface="Arial" pitchFamily="34" charset="-122"/>
                <a:cs typeface="Arial" pitchFamily="34" charset="-120"/>
              </a:rPr>
              <a:t>Questions welcome</a:t>
            </a:r>
            <a:endParaRPr lang="en-US" sz="1700" dirty="0"/>
          </a:p>
        </p:txBody>
      </p:sp>
      <p:sp>
        <p:nvSpPr>
          <p:cNvPr id="4" name="Shape 2"/>
          <p:cNvSpPr/>
          <p:nvPr/>
        </p:nvSpPr>
        <p:spPr>
          <a:xfrm>
            <a:off x="822960" y="6080760"/>
            <a:ext cx="5486400" cy="0"/>
          </a:xfrm>
          <a:prstGeom prst="line">
            <a:avLst/>
          </a:prstGeom>
          <a:noFill/>
          <a:ln w="9525">
            <a:solidFill>
              <a:srgbClr val="D9D9D9"/>
            </a:solidFill>
            <a:prstDash val="solid"/>
          </a:ln>
        </p:spPr>
      </p:sp>
      <p:sp>
        <p:nvSpPr>
          <p:cNvPr id="5" name="Text 3"/>
          <p:cNvSpPr txBox="1"/>
          <p:nvPr/>
        </p:nvSpPr>
        <p:spPr>
          <a:xfrm>
            <a:off x="822960" y="6217920"/>
            <a:ext cx="10058400" cy="320040"/>
          </a:xfrm>
          <a:prstGeom prst="rect">
            <a:avLst/>
          </a:prstGeom>
          <a:noFill/>
          <a:ln/>
        </p:spPr>
        <p:txBody>
          <a:bodyPr wrap="square" lIns="0" tIns="0" rIns="0" bIns="0" rtlCol="0" anchor="ctr"/>
          <a:lstStyle/>
          <a:p>
            <a:pPr indent="0" marL="0">
              <a:buNone/>
            </a:pPr>
            <a:r>
              <a:rPr lang="en-US" sz="1150" i="1" dirty="0">
                <a:solidFill>
                  <a:srgbClr val="8C8C8C"/>
                </a:solidFill>
                <a:latin typeface="Arial" pitchFamily="34" charset="0"/>
                <a:ea typeface="Arial" pitchFamily="34" charset="-122"/>
                <a:cs typeface="Arial" pitchFamily="34" charset="-120"/>
              </a:rPr>
              <a:t>Decision support only  ·  every recommendation requires human clinical sign-off  ·  synthetic data only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2026-10-03T05:56:31Z</dcterms:created>
  <dcterms:modified xsi:type="dcterms:W3CDTF">2026-10-03T05:56:31Z</dcterms:modified>
</cp:coreProperties>
</file>